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3004596"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7315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98079" y="54864"/>
            <a:ext cx="5532120" cy="7260336"/>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79" y="54864"/>
            <a:ext cx="182880" cy="726033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05840"/>
            <a:ext cx="6400800" cy="320040"/>
          </a:xfrm>
          <a:prstGeom prst="rect">
            <a:avLst/>
          </a:prstGeom>
          <a:noFill/>
        </p:spPr>
        <p:txBody>
          <a:bodyPr wrap="square" lIns="0" rIns="0" tIns="0" bIns="0" anchor="t">
            <a:spAutoFit/>
          </a:bodyPr>
          <a:lstStyle/>
          <a:p>
            <a:pPr algn="l">
              <a:lnSpc>
                <a:spcPct val="115000"/>
              </a:lnSpc>
            </a:pPr>
            <a:r>
              <a:rPr sz="1200" b="1" spc="300">
                <a:solidFill>
                  <a:srgbClr val="FF6A00"/>
                </a:solidFill>
                <a:latin typeface="Calibri"/>
              </a:rPr>
              <a:t>UE1  ·  REIFEGRADSTUFE 1</a:t>
            </a:r>
          </a:p>
        </p:txBody>
      </p:sp>
      <p:sp>
        <p:nvSpPr>
          <p:cNvPr id="7" name="TextBox 6"/>
          <p:cNvSpPr txBox="1"/>
          <p:nvPr/>
        </p:nvSpPr>
        <p:spPr>
          <a:xfrm>
            <a:off x="731520" y="1417320"/>
            <a:ext cx="6400800" cy="365760"/>
          </a:xfrm>
          <a:prstGeom prst="rect">
            <a:avLst/>
          </a:prstGeom>
          <a:noFill/>
        </p:spPr>
        <p:txBody>
          <a:bodyPr wrap="square" lIns="0" rIns="0" tIns="0" bIns="0" anchor="t">
            <a:spAutoFit/>
          </a:bodyPr>
          <a:lstStyle/>
          <a:p>
            <a:pPr algn="l">
              <a:lnSpc>
                <a:spcPct val="115000"/>
              </a:lnSpc>
            </a:pPr>
            <a:r>
              <a:rPr sz="1000" b="1" spc="200">
                <a:solidFill>
                  <a:srgbClr val="003E6E"/>
                </a:solidFill>
                <a:latin typeface="Calibri"/>
              </a:rPr>
              <a:t>DIGITALE TRANSFORMATION  ·  STADT WÜRZBURG</a:t>
            </a:r>
          </a:p>
        </p:txBody>
      </p:sp>
      <p:sp>
        <p:nvSpPr>
          <p:cNvPr id="8" name="TextBox 7"/>
          <p:cNvSpPr txBox="1"/>
          <p:nvPr/>
        </p:nvSpPr>
        <p:spPr>
          <a:xfrm>
            <a:off x="731520" y="2103120"/>
            <a:ext cx="6583680" cy="2286000"/>
          </a:xfrm>
          <a:prstGeom prst="rect">
            <a:avLst/>
          </a:prstGeom>
          <a:noFill/>
        </p:spPr>
        <p:txBody>
          <a:bodyPr wrap="square" lIns="0" rIns="0" tIns="0" bIns="0" anchor="t">
            <a:spAutoFit/>
          </a:bodyPr>
          <a:lstStyle/>
          <a:p>
            <a:pPr algn="l">
              <a:lnSpc>
                <a:spcPct val="105000"/>
              </a:lnSpc>
            </a:pPr>
            <a:r>
              <a:rPr sz="4000" b="1">
                <a:solidFill>
                  <a:srgbClr val="003E6E"/>
                </a:solidFill>
                <a:latin typeface="Calibri"/>
              </a:rPr>
              <a:t>Vom PDF-Formular zum mehrsprachigen Webformular</a:t>
            </a:r>
          </a:p>
        </p:txBody>
      </p:sp>
      <p:sp>
        <p:nvSpPr>
          <p:cNvPr id="9" name="TextBox 8"/>
          <p:cNvSpPr txBox="1"/>
          <p:nvPr/>
        </p:nvSpPr>
        <p:spPr>
          <a:xfrm>
            <a:off x="731520" y="4297680"/>
            <a:ext cx="6583680" cy="1371600"/>
          </a:xfrm>
          <a:prstGeom prst="rect">
            <a:avLst/>
          </a:prstGeom>
          <a:noFill/>
        </p:spPr>
        <p:txBody>
          <a:bodyPr wrap="square" lIns="0" rIns="0" tIns="0" bIns="0" anchor="t">
            <a:spAutoFit/>
          </a:bodyPr>
          <a:lstStyle/>
          <a:p>
            <a:pPr algn="l">
              <a:lnSpc>
                <a:spcPct val="135000"/>
              </a:lnSpc>
            </a:pPr>
            <a:r>
              <a:rPr sz="1400" b="0">
                <a:solidFill>
                  <a:srgbClr val="404040"/>
                </a:solidFill>
                <a:latin typeface="Calibri"/>
              </a:rPr>
              <a:t>Fallstudie Altenhilfeplan APL 2: Schwächen des heutigen PDF-Verfahrens, technische Architektur und kritische Würdigung des neuen Webformular-Ansatzes.</a:t>
            </a:r>
          </a:p>
        </p:txBody>
      </p:sp>
      <p:sp>
        <p:nvSpPr>
          <p:cNvPr id="10" name="TextBox 9"/>
          <p:cNvSpPr txBox="1"/>
          <p:nvPr/>
        </p:nvSpPr>
        <p:spPr>
          <a:xfrm>
            <a:off x="7863840" y="1097280"/>
            <a:ext cx="4937760" cy="320040"/>
          </a:xfrm>
          <a:prstGeom prst="rect">
            <a:avLst/>
          </a:prstGeom>
          <a:noFill/>
        </p:spPr>
        <p:txBody>
          <a:bodyPr wrap="square" lIns="0" rIns="0" tIns="0" bIns="0" anchor="t">
            <a:spAutoFit/>
          </a:bodyPr>
          <a:lstStyle/>
          <a:p>
            <a:pPr algn="l">
              <a:lnSpc>
                <a:spcPct val="115000"/>
              </a:lnSpc>
            </a:pPr>
            <a:r>
              <a:rPr sz="1100" b="1" spc="300">
                <a:solidFill>
                  <a:srgbClr val="FF6A00"/>
                </a:solidFill>
                <a:latin typeface="Calibri"/>
              </a:rPr>
              <a:t>FALLSTUDIE  ·  APL 2</a:t>
            </a:r>
          </a:p>
        </p:txBody>
      </p:sp>
      <p:sp>
        <p:nvSpPr>
          <p:cNvPr id="11" name="TextBox 10"/>
          <p:cNvSpPr txBox="1"/>
          <p:nvPr/>
        </p:nvSpPr>
        <p:spPr>
          <a:xfrm>
            <a:off x="7863840" y="1508760"/>
            <a:ext cx="4937760" cy="1828800"/>
          </a:xfrm>
          <a:prstGeom prst="rect">
            <a:avLst/>
          </a:prstGeom>
          <a:noFill/>
        </p:spPr>
        <p:txBody>
          <a:bodyPr wrap="square" lIns="0" rIns="0" tIns="0" bIns="0" anchor="t">
            <a:spAutoFit/>
          </a:bodyPr>
          <a:lstStyle/>
          <a:p>
            <a:pPr algn="l">
              <a:lnSpc>
                <a:spcPct val="120000"/>
              </a:lnSpc>
            </a:pPr>
            <a:r>
              <a:rPr sz="1800" b="1">
                <a:solidFill>
                  <a:srgbClr val="FFFFFF"/>
                </a:solidFill>
                <a:latin typeface="Calibri"/>
              </a:rPr>
              <a:t>Antrag auf Gewährung eines Zuschusses nach dem Altenhilfeplan Nr. 2 — Altentagesstätten</a:t>
            </a:r>
          </a:p>
        </p:txBody>
      </p:sp>
      <p:sp>
        <p:nvSpPr>
          <p:cNvPr id="12" name="TextBox 11"/>
          <p:cNvSpPr txBox="1"/>
          <p:nvPr/>
        </p:nvSpPr>
        <p:spPr>
          <a:xfrm>
            <a:off x="7863840" y="3474720"/>
            <a:ext cx="4937760" cy="502920"/>
          </a:xfrm>
          <a:prstGeom prst="rect">
            <a:avLst/>
          </a:prstGeom>
          <a:noFill/>
        </p:spPr>
        <p:txBody>
          <a:bodyPr wrap="square" lIns="0" rIns="0" tIns="0" bIns="0" anchor="t">
            <a:spAutoFit/>
          </a:bodyPr>
          <a:lstStyle/>
          <a:p>
            <a:pPr algn="l">
              <a:lnSpc>
                <a:spcPct val="115000"/>
              </a:lnSpc>
            </a:pPr>
            <a:r>
              <a:rPr sz="2800" b="1">
                <a:solidFill>
                  <a:srgbClr val="FFFFFF"/>
                </a:solidFill>
                <a:latin typeface="Calibri"/>
              </a:rPr>
              <a:t>1 PDF</a:t>
            </a:r>
          </a:p>
        </p:txBody>
      </p:sp>
      <p:sp>
        <p:nvSpPr>
          <p:cNvPr id="13" name="TextBox 12"/>
          <p:cNvSpPr txBox="1"/>
          <p:nvPr/>
        </p:nvSpPr>
        <p:spPr>
          <a:xfrm>
            <a:off x="7863840" y="4069080"/>
            <a:ext cx="4937760" cy="365760"/>
          </a:xfrm>
          <a:prstGeom prst="rect">
            <a:avLst/>
          </a:prstGeom>
          <a:noFill/>
        </p:spPr>
        <p:txBody>
          <a:bodyPr wrap="square" lIns="0" rIns="0" tIns="0" bIns="0" anchor="t">
            <a:spAutoFit/>
          </a:bodyPr>
          <a:lstStyle/>
          <a:p>
            <a:pPr algn="l">
              <a:lnSpc>
                <a:spcPct val="125000"/>
              </a:lnSpc>
            </a:pPr>
            <a:r>
              <a:rPr sz="1050" b="0">
                <a:solidFill>
                  <a:srgbClr val="E3DED1"/>
                </a:solidFill>
                <a:latin typeface="Calibri"/>
              </a:rPr>
              <a:t>lädt eine Bürgerin heute herunter — und erfasst alles per Hand</a:t>
            </a:r>
          </a:p>
        </p:txBody>
      </p:sp>
      <p:sp>
        <p:nvSpPr>
          <p:cNvPr id="14" name="TextBox 13"/>
          <p:cNvSpPr txBox="1"/>
          <p:nvPr/>
        </p:nvSpPr>
        <p:spPr>
          <a:xfrm>
            <a:off x="7863840" y="4572000"/>
            <a:ext cx="4937760" cy="502920"/>
          </a:xfrm>
          <a:prstGeom prst="rect">
            <a:avLst/>
          </a:prstGeom>
          <a:noFill/>
        </p:spPr>
        <p:txBody>
          <a:bodyPr wrap="square" lIns="0" rIns="0" tIns="0" bIns="0" anchor="t">
            <a:spAutoFit/>
          </a:bodyPr>
          <a:lstStyle/>
          <a:p>
            <a:pPr algn="l">
              <a:lnSpc>
                <a:spcPct val="115000"/>
              </a:lnSpc>
            </a:pPr>
            <a:r>
              <a:rPr sz="2800" b="1">
                <a:solidFill>
                  <a:srgbClr val="FFFFFF"/>
                </a:solidFill>
                <a:latin typeface="Calibri"/>
              </a:rPr>
              <a:t>4 Sprachen</a:t>
            </a:r>
          </a:p>
        </p:txBody>
      </p:sp>
      <p:sp>
        <p:nvSpPr>
          <p:cNvPr id="15" name="TextBox 14"/>
          <p:cNvSpPr txBox="1"/>
          <p:nvPr/>
        </p:nvSpPr>
        <p:spPr>
          <a:xfrm>
            <a:off x="7863840" y="5166360"/>
            <a:ext cx="4937760" cy="365760"/>
          </a:xfrm>
          <a:prstGeom prst="rect">
            <a:avLst/>
          </a:prstGeom>
          <a:noFill/>
        </p:spPr>
        <p:txBody>
          <a:bodyPr wrap="square" lIns="0" rIns="0" tIns="0" bIns="0" anchor="t">
            <a:spAutoFit/>
          </a:bodyPr>
          <a:lstStyle/>
          <a:p>
            <a:pPr algn="l">
              <a:lnSpc>
                <a:spcPct val="125000"/>
              </a:lnSpc>
            </a:pPr>
            <a:r>
              <a:rPr sz="1050" b="0">
                <a:solidFill>
                  <a:srgbClr val="E3DED1"/>
                </a:solidFill>
                <a:latin typeface="Calibri"/>
              </a:rPr>
              <a:t>DE · IT · TR · ES decken große Würzburger Sprachgruppen ab</a:t>
            </a:r>
          </a:p>
        </p:txBody>
      </p:sp>
      <p:sp>
        <p:nvSpPr>
          <p:cNvPr id="16" name="TextBox 15"/>
          <p:cNvSpPr txBox="1"/>
          <p:nvPr/>
        </p:nvSpPr>
        <p:spPr>
          <a:xfrm>
            <a:off x="7863840" y="5669280"/>
            <a:ext cx="4937760" cy="502920"/>
          </a:xfrm>
          <a:prstGeom prst="rect">
            <a:avLst/>
          </a:prstGeom>
          <a:noFill/>
        </p:spPr>
        <p:txBody>
          <a:bodyPr wrap="square" lIns="0" rIns="0" tIns="0" bIns="0" anchor="t">
            <a:spAutoFit/>
          </a:bodyPr>
          <a:lstStyle/>
          <a:p>
            <a:pPr algn="l">
              <a:lnSpc>
                <a:spcPct val="115000"/>
              </a:lnSpc>
            </a:pPr>
            <a:r>
              <a:rPr sz="2800" b="1">
                <a:solidFill>
                  <a:srgbClr val="FFFFFF"/>
                </a:solidFill>
                <a:latin typeface="Calibri"/>
              </a:rPr>
              <a:t>0 Medien-­brüche</a:t>
            </a:r>
          </a:p>
        </p:txBody>
      </p:sp>
      <p:sp>
        <p:nvSpPr>
          <p:cNvPr id="17" name="TextBox 16"/>
          <p:cNvSpPr txBox="1"/>
          <p:nvPr/>
        </p:nvSpPr>
        <p:spPr>
          <a:xfrm>
            <a:off x="7863840" y="6263640"/>
            <a:ext cx="4937760" cy="365760"/>
          </a:xfrm>
          <a:prstGeom prst="rect">
            <a:avLst/>
          </a:prstGeom>
          <a:noFill/>
        </p:spPr>
        <p:txBody>
          <a:bodyPr wrap="square" lIns="0" rIns="0" tIns="0" bIns="0" anchor="t">
            <a:spAutoFit/>
          </a:bodyPr>
          <a:lstStyle/>
          <a:p>
            <a:pPr algn="l">
              <a:lnSpc>
                <a:spcPct val="125000"/>
              </a:lnSpc>
            </a:pPr>
            <a:r>
              <a:rPr sz="1050" b="0">
                <a:solidFill>
                  <a:srgbClr val="E3DED1"/>
                </a:solidFill>
                <a:latin typeface="Calibri"/>
              </a:rPr>
              <a:t>im Frontend — Validierung, Anlagen-Check, Druckansicht im Browser</a:t>
            </a:r>
          </a:p>
        </p:txBody>
      </p:sp>
      <p:sp>
        <p:nvSpPr>
          <p:cNvPr id="18" name="TextBox 17"/>
          <p:cNvSpPr txBox="1"/>
          <p:nvPr/>
        </p:nvSpPr>
        <p:spPr>
          <a:xfrm>
            <a:off x="731520" y="6903720"/>
            <a:ext cx="7315200" cy="22860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Stadt Würzburg  ·  Beratungsstelle für Senioren  ·  Lehrdemo — kein offizielles Angebot der Stadt</a:t>
            </a:r>
          </a:p>
        </p:txBody>
      </p:sp>
      <p:sp>
        <p:nvSpPr>
          <p:cNvPr id="19" name="TextBox 18"/>
          <p:cNvSpPr txBox="1"/>
          <p:nvPr/>
        </p:nvSpPr>
        <p:spPr>
          <a:xfrm>
            <a:off x="7863840" y="6903720"/>
            <a:ext cx="4937760" cy="228600"/>
          </a:xfrm>
          <a:prstGeom prst="rect">
            <a:avLst/>
          </a:prstGeom>
          <a:noFill/>
        </p:spPr>
        <p:txBody>
          <a:bodyPr wrap="square" lIns="0" rIns="0" tIns="0" bIns="0" anchor="t">
            <a:spAutoFit/>
          </a:bodyPr>
          <a:lstStyle/>
          <a:p>
            <a:pPr algn="r">
              <a:lnSpc>
                <a:spcPct val="115000"/>
              </a:lnSpc>
            </a:pPr>
            <a:r>
              <a:rPr sz="850" b="0">
                <a:solidFill>
                  <a:srgbClr val="E3DED1"/>
                </a:solidFill>
                <a:latin typeface="Calibri"/>
              </a:rPr>
              <a:t>UE1 — Webformular  ·  18. Mai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Wegweiser durch diese Unterrichtseinheit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in Anlehnung an die Slide-Logik des Intro-Decks „Digitalisierung in der Verwaltung“.</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AGENDA  ·  SECHS STATIONEN</a:t>
            </a:r>
          </a:p>
        </p:txBody>
      </p:sp>
      <p:sp>
        <p:nvSpPr>
          <p:cNvPr id="8" name="Rectangle 7"/>
          <p:cNvSpPr/>
          <p:nvPr/>
        </p:nvSpPr>
        <p:spPr>
          <a:xfrm>
            <a:off x="502920" y="201168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8600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01</a:t>
            </a:r>
          </a:p>
        </p:txBody>
      </p:sp>
      <p:sp>
        <p:nvSpPr>
          <p:cNvPr id="11" name="TextBox 10"/>
          <p:cNvSpPr txBox="1"/>
          <p:nvPr/>
        </p:nvSpPr>
        <p:spPr>
          <a:xfrm>
            <a:off x="777240" y="288036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STATUS QUO</a:t>
            </a:r>
          </a:p>
        </p:txBody>
      </p:sp>
      <p:sp>
        <p:nvSpPr>
          <p:cNvPr id="12" name="TextBox 11"/>
          <p:cNvSpPr txBox="1"/>
          <p:nvPr/>
        </p:nvSpPr>
        <p:spPr>
          <a:xfrm>
            <a:off x="777240" y="329184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Das heutige PDF-Verfahren der Stadt Würzburg — wie es abläuft und wo es Stärken hat.</a:t>
            </a:r>
          </a:p>
        </p:txBody>
      </p:sp>
      <p:sp>
        <p:nvSpPr>
          <p:cNvPr id="13" name="Rectangle 12"/>
          <p:cNvSpPr/>
          <p:nvPr/>
        </p:nvSpPr>
        <p:spPr>
          <a:xfrm>
            <a:off x="4617720" y="201168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228600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02</a:t>
            </a:r>
          </a:p>
        </p:txBody>
      </p:sp>
      <p:sp>
        <p:nvSpPr>
          <p:cNvPr id="16" name="TextBox 15"/>
          <p:cNvSpPr txBox="1"/>
          <p:nvPr/>
        </p:nvSpPr>
        <p:spPr>
          <a:xfrm>
            <a:off x="4892040" y="288036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SCHWÄCHEN</a:t>
            </a:r>
          </a:p>
        </p:txBody>
      </p:sp>
      <p:sp>
        <p:nvSpPr>
          <p:cNvPr id="17" name="TextBox 16"/>
          <p:cNvSpPr txBox="1"/>
          <p:nvPr/>
        </p:nvSpPr>
        <p:spPr>
          <a:xfrm>
            <a:off x="4892040" y="329184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Wo der PDF-Ansatz Bürgerinnen, Bürger und Verwaltung belastet — Medienbrüche, Fehler, Sprachbarriere.</a:t>
            </a:r>
          </a:p>
        </p:txBody>
      </p:sp>
      <p:sp>
        <p:nvSpPr>
          <p:cNvPr id="18" name="Rectangle 17"/>
          <p:cNvSpPr/>
          <p:nvPr/>
        </p:nvSpPr>
        <p:spPr>
          <a:xfrm>
            <a:off x="8732520" y="201168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228600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03</a:t>
            </a:r>
          </a:p>
        </p:txBody>
      </p:sp>
      <p:sp>
        <p:nvSpPr>
          <p:cNvPr id="21" name="TextBox 20"/>
          <p:cNvSpPr txBox="1"/>
          <p:nvPr/>
        </p:nvSpPr>
        <p:spPr>
          <a:xfrm>
            <a:off x="9006840" y="288036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TRANSFORMATION</a:t>
            </a:r>
          </a:p>
        </p:txBody>
      </p:sp>
      <p:sp>
        <p:nvSpPr>
          <p:cNvPr id="22" name="TextBox 21"/>
          <p:cNvSpPr txBox="1"/>
          <p:nvPr/>
        </p:nvSpPr>
        <p:spPr>
          <a:xfrm>
            <a:off x="9006840" y="329184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Vom PDF zum Webformular — Reifegradstufe 1 als pragmatischer, sofort umsetzbarer Schritt.</a:t>
            </a:r>
          </a:p>
        </p:txBody>
      </p:sp>
      <p:sp>
        <p:nvSpPr>
          <p:cNvPr id="23" name="Rectangle 22"/>
          <p:cNvSpPr/>
          <p:nvPr/>
        </p:nvSpPr>
        <p:spPr>
          <a:xfrm>
            <a:off x="502920" y="457200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57200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84632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04</a:t>
            </a:r>
          </a:p>
        </p:txBody>
      </p:sp>
      <p:sp>
        <p:nvSpPr>
          <p:cNvPr id="26" name="TextBox 25"/>
          <p:cNvSpPr txBox="1"/>
          <p:nvPr/>
        </p:nvSpPr>
        <p:spPr>
          <a:xfrm>
            <a:off x="777240" y="544068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ARCHITEKTUR</a:t>
            </a:r>
          </a:p>
        </p:txBody>
      </p:sp>
      <p:sp>
        <p:nvSpPr>
          <p:cNvPr id="27" name="TextBox 26"/>
          <p:cNvSpPr txBox="1"/>
          <p:nvPr/>
        </p:nvSpPr>
        <p:spPr>
          <a:xfrm>
            <a:off x="777240" y="585216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Die technische Umsetzung: Frontend, Backend, Datenfluss, Validierung, Mehrsprachigkeit.</a:t>
            </a:r>
          </a:p>
        </p:txBody>
      </p:sp>
      <p:sp>
        <p:nvSpPr>
          <p:cNvPr id="28" name="Rectangle 27"/>
          <p:cNvSpPr/>
          <p:nvPr/>
        </p:nvSpPr>
        <p:spPr>
          <a:xfrm>
            <a:off x="4617720" y="457200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17720" y="457200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92040" y="484632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05</a:t>
            </a:r>
          </a:p>
        </p:txBody>
      </p:sp>
      <p:sp>
        <p:nvSpPr>
          <p:cNvPr id="31" name="TextBox 30"/>
          <p:cNvSpPr txBox="1"/>
          <p:nvPr/>
        </p:nvSpPr>
        <p:spPr>
          <a:xfrm>
            <a:off x="4892040" y="544068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CHANCEN</a:t>
            </a:r>
          </a:p>
        </p:txBody>
      </p:sp>
      <p:sp>
        <p:nvSpPr>
          <p:cNvPr id="32" name="TextBox 31"/>
          <p:cNvSpPr txBox="1"/>
          <p:nvPr/>
        </p:nvSpPr>
        <p:spPr>
          <a:xfrm>
            <a:off x="4892040" y="585216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Was diese Stufe gewinnt — Datenqualität, Inklusion, Barrierearmut, OZG-Anschlussfähigkeit.</a:t>
            </a:r>
          </a:p>
        </p:txBody>
      </p:sp>
      <p:sp>
        <p:nvSpPr>
          <p:cNvPr id="33" name="Rectangle 32"/>
          <p:cNvSpPr/>
          <p:nvPr/>
        </p:nvSpPr>
        <p:spPr>
          <a:xfrm>
            <a:off x="8732520" y="4572000"/>
            <a:ext cx="3931920" cy="233172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32520" y="457200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4846320"/>
            <a:ext cx="1371600" cy="502920"/>
          </a:xfrm>
          <a:prstGeom prst="rect">
            <a:avLst/>
          </a:prstGeom>
          <a:noFill/>
        </p:spPr>
        <p:txBody>
          <a:bodyPr wrap="square" lIns="0" rIns="0" tIns="0" bIns="0" anchor="t">
            <a:spAutoFit/>
          </a:bodyPr>
          <a:lstStyle/>
          <a:p>
            <a:pPr algn="l">
              <a:lnSpc>
                <a:spcPct val="115000"/>
              </a:lnSpc>
            </a:pPr>
            <a:r>
              <a:rPr sz="2800" b="1">
                <a:solidFill>
                  <a:srgbClr val="FF6A00"/>
                </a:solidFill>
                <a:latin typeface="Calibri"/>
              </a:rPr>
              <a:t>06</a:t>
            </a:r>
          </a:p>
        </p:txBody>
      </p:sp>
      <p:sp>
        <p:nvSpPr>
          <p:cNvPr id="36" name="TextBox 35"/>
          <p:cNvSpPr txBox="1"/>
          <p:nvPr/>
        </p:nvSpPr>
        <p:spPr>
          <a:xfrm>
            <a:off x="9006840" y="544068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KRITISCHE WÜRDIGUNG</a:t>
            </a:r>
          </a:p>
        </p:txBody>
      </p:sp>
      <p:sp>
        <p:nvSpPr>
          <p:cNvPr id="37" name="TextBox 36"/>
          <p:cNvSpPr txBox="1"/>
          <p:nvPr/>
        </p:nvSpPr>
        <p:spPr>
          <a:xfrm>
            <a:off x="9006840" y="5852160"/>
            <a:ext cx="3474720" cy="960119"/>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Grenzen, offene Fragen, Risiken — und die Brücke zu UE2 (Persistenz, Tracking, e-Akte).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Heute beginnt der Antrag mit einem PDF-Download aus dem Würzburger Formularcenter</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Quelle: wuerzburg.de/rathaus/formularcenter?detID=505765 (abgerufen 17.05.2026); Förderrichtlinie AHP der Stadt Würzburg (27.03.2025).</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STATUS QUO  ·  WÜRZBURGER FORMULARCENTER</a:t>
            </a:r>
          </a:p>
        </p:txBody>
      </p:sp>
      <p:sp>
        <p:nvSpPr>
          <p:cNvPr id="8" name="TextBox 7"/>
          <p:cNvSpPr txBox="1"/>
          <p:nvPr/>
        </p:nvSpPr>
        <p:spPr>
          <a:xfrm>
            <a:off x="502920" y="1920240"/>
            <a:ext cx="6217920" cy="32004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DER WEG DER BÜRGERIN HEUTE</a:t>
            </a:r>
          </a:p>
        </p:txBody>
      </p:sp>
      <p:sp>
        <p:nvSpPr>
          <p:cNvPr id="9" name="TextBox 8"/>
          <p:cNvSpPr txBox="1"/>
          <p:nvPr/>
        </p:nvSpPr>
        <p:spPr>
          <a:xfrm>
            <a:off x="502920" y="2286000"/>
            <a:ext cx="6217920" cy="4114800"/>
          </a:xfrm>
          <a:prstGeom prst="rect">
            <a:avLst/>
          </a:prstGeom>
          <a:noFill/>
        </p:spPr>
        <p:txBody>
          <a:bodyPr wrap="square" lIns="0" rIns="0" tIns="0" bIns="0" anchor="t">
            <a:spAutoFit/>
          </a:bodyPr>
          <a:lstStyle/>
          <a:p>
            <a:pPr algn="l">
              <a:lnSpc>
                <a:spcPct val="140000"/>
              </a:lnSpc>
            </a:pPr>
            <a:r>
              <a:rPr sz="1200" b="0">
                <a:solidFill>
                  <a:srgbClr val="404040"/>
                </a:solidFill>
                <a:latin typeface="Calibri"/>
              </a:rPr>
              <a:t>Die Stadt Würzburg stellt für rund ein Dutzend Verwaltungsleistungen Antragsformulare als PDF zum Download bereit — darunter den Antrag auf Zuschuss nach dem Altenhilfeplan Nr. 2 (APL 2). Der Träger einer Altentagesstätte muss das Dokument lokal speichern, ausdrucken, per Hand ausfüllen, alle Pflichtanlagen beilegen und das Konvolut per Post oder Scan-Mail an die Beratungsstelle für Senioren übermitteln. Die Beratungsstelle erfasst die Daten anschließend manuell im Fachverfahren. Rückfragen laufen postalisch — und können den Vorgang um Wochen verzögern.</a:t>
            </a:r>
          </a:p>
        </p:txBody>
      </p:sp>
      <p:sp>
        <p:nvSpPr>
          <p:cNvPr id="10" name="Rectangle 9"/>
          <p:cNvSpPr/>
          <p:nvPr/>
        </p:nvSpPr>
        <p:spPr>
          <a:xfrm>
            <a:off x="6995160" y="1920240"/>
            <a:ext cx="5532120" cy="4754880"/>
          </a:xfrm>
          <a:prstGeom prst="rect">
            <a:avLst/>
          </a:prstGeom>
          <a:solidFill>
            <a:srgbClr val="E3DED1"/>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78040" y="2103120"/>
            <a:ext cx="5166360" cy="320040"/>
          </a:xfrm>
          <a:prstGeom prst="rect">
            <a:avLst/>
          </a:prstGeom>
          <a:noFill/>
        </p:spPr>
        <p:txBody>
          <a:bodyPr wrap="square" lIns="0" rIns="0" tIns="0" bIns="0" anchor="t">
            <a:spAutoFit/>
          </a:bodyPr>
          <a:lstStyle/>
          <a:p>
            <a:pPr algn="l">
              <a:lnSpc>
                <a:spcPct val="115000"/>
              </a:lnSpc>
            </a:pPr>
            <a:r>
              <a:rPr sz="1050" b="1" spc="200">
                <a:solidFill>
                  <a:srgbClr val="003E6E"/>
                </a:solidFill>
                <a:latin typeface="Calibri"/>
              </a:rPr>
              <a:t>FAKTEN ZUM HEUTIGEN VERFAHREN</a:t>
            </a:r>
          </a:p>
        </p:txBody>
      </p:sp>
      <p:sp>
        <p:nvSpPr>
          <p:cNvPr id="12" name="TextBox 11"/>
          <p:cNvSpPr txBox="1"/>
          <p:nvPr/>
        </p:nvSpPr>
        <p:spPr>
          <a:xfrm>
            <a:off x="7178040" y="2606040"/>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PDF-Dokument</a:t>
            </a:r>
          </a:p>
        </p:txBody>
      </p:sp>
      <p:sp>
        <p:nvSpPr>
          <p:cNvPr id="13" name="TextBox 12"/>
          <p:cNvSpPr txBox="1"/>
          <p:nvPr/>
        </p:nvSpPr>
        <p:spPr>
          <a:xfrm>
            <a:off x="9418320" y="2606040"/>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Antrag APL 2 + Anlage 1, je separat zum Download</a:t>
            </a:r>
          </a:p>
        </p:txBody>
      </p:sp>
      <p:sp>
        <p:nvSpPr>
          <p:cNvPr id="14" name="TextBox 13"/>
          <p:cNvSpPr txBox="1"/>
          <p:nvPr/>
        </p:nvSpPr>
        <p:spPr>
          <a:xfrm>
            <a:off x="7178040" y="3264408"/>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Förderrichtlinie</a:t>
            </a:r>
          </a:p>
        </p:txBody>
      </p:sp>
      <p:sp>
        <p:nvSpPr>
          <p:cNvPr id="15" name="TextBox 14"/>
          <p:cNvSpPr txBox="1"/>
          <p:nvPr/>
        </p:nvSpPr>
        <p:spPr>
          <a:xfrm>
            <a:off x="9418320" y="3264408"/>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AHP der Stadt Würzburg — 10 Seiten Rechtsgrundlage als weiteres PDF</a:t>
            </a:r>
          </a:p>
        </p:txBody>
      </p:sp>
      <p:sp>
        <p:nvSpPr>
          <p:cNvPr id="16" name="TextBox 15"/>
          <p:cNvSpPr txBox="1"/>
          <p:nvPr/>
        </p:nvSpPr>
        <p:spPr>
          <a:xfrm>
            <a:off x="7178040" y="3922776"/>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Sprache</a:t>
            </a:r>
          </a:p>
        </p:txBody>
      </p:sp>
      <p:sp>
        <p:nvSpPr>
          <p:cNvPr id="17" name="TextBox 16"/>
          <p:cNvSpPr txBox="1"/>
          <p:nvPr/>
        </p:nvSpPr>
        <p:spPr>
          <a:xfrm>
            <a:off x="9418320" y="3922776"/>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ausschließlich Deutsch — Formularinhalte sind nicht übersetzt</a:t>
            </a:r>
          </a:p>
        </p:txBody>
      </p:sp>
      <p:sp>
        <p:nvSpPr>
          <p:cNvPr id="18" name="TextBox 17"/>
          <p:cNvSpPr txBox="1"/>
          <p:nvPr/>
        </p:nvSpPr>
        <p:spPr>
          <a:xfrm>
            <a:off x="7178040" y="4581144"/>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Pflichtanlagen</a:t>
            </a:r>
          </a:p>
        </p:txBody>
      </p:sp>
      <p:sp>
        <p:nvSpPr>
          <p:cNvPr id="19" name="TextBox 18"/>
          <p:cNvSpPr txBox="1"/>
          <p:nvPr/>
        </p:nvSpPr>
        <p:spPr>
          <a:xfrm>
            <a:off x="9418320" y="4581144"/>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Programm der Altentagesstätte · Kostennachweis · Personalkostenbelege · ggf. Mietvertrag</a:t>
            </a:r>
          </a:p>
        </p:txBody>
      </p:sp>
      <p:sp>
        <p:nvSpPr>
          <p:cNvPr id="20" name="TextBox 19"/>
          <p:cNvSpPr txBox="1"/>
          <p:nvPr/>
        </p:nvSpPr>
        <p:spPr>
          <a:xfrm>
            <a:off x="7178040" y="5239512"/>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Übermittlung</a:t>
            </a:r>
          </a:p>
        </p:txBody>
      </p:sp>
      <p:sp>
        <p:nvSpPr>
          <p:cNvPr id="21" name="TextBox 20"/>
          <p:cNvSpPr txBox="1"/>
          <p:nvPr/>
        </p:nvSpPr>
        <p:spPr>
          <a:xfrm>
            <a:off x="9418320" y="5239512"/>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Post oder Scan-Mail an die Beratungsstelle für Senioren</a:t>
            </a:r>
          </a:p>
        </p:txBody>
      </p:sp>
      <p:sp>
        <p:nvSpPr>
          <p:cNvPr id="22" name="TextBox 21"/>
          <p:cNvSpPr txBox="1"/>
          <p:nvPr/>
        </p:nvSpPr>
        <p:spPr>
          <a:xfrm>
            <a:off x="7178040" y="5897879"/>
            <a:ext cx="2194560" cy="274320"/>
          </a:xfrm>
          <a:prstGeom prst="rect">
            <a:avLst/>
          </a:prstGeom>
          <a:noFill/>
        </p:spPr>
        <p:txBody>
          <a:bodyPr wrap="square" lIns="0" rIns="0" tIns="0" bIns="0" anchor="t">
            <a:spAutoFit/>
          </a:bodyPr>
          <a:lstStyle/>
          <a:p>
            <a:pPr algn="l">
              <a:lnSpc>
                <a:spcPct val="115000"/>
              </a:lnSpc>
            </a:pPr>
            <a:r>
              <a:rPr sz="1050" b="1">
                <a:solidFill>
                  <a:srgbClr val="FF6A00"/>
                </a:solidFill>
                <a:latin typeface="Calibri"/>
              </a:rPr>
              <a:t>Erfassung</a:t>
            </a:r>
          </a:p>
        </p:txBody>
      </p:sp>
      <p:sp>
        <p:nvSpPr>
          <p:cNvPr id="23" name="TextBox 22"/>
          <p:cNvSpPr txBox="1"/>
          <p:nvPr/>
        </p:nvSpPr>
        <p:spPr>
          <a:xfrm>
            <a:off x="9418320" y="5897879"/>
            <a:ext cx="2971800" cy="5943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manuelle Übertragung in das städtische Fachverfahren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Auch ein PDF-Formular hat Stärken — und genau dort liegt die Beharrungskraft des Status quo</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Bundes-CIO „Leitfaden für barrierefreie PDF-Formulare in der Verwaltung“; KGSt-Bericht 11/2024.</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STATUS QUO  ·  STÄRKEN DES PDF-ANSATZES</a:t>
            </a:r>
          </a:p>
        </p:txBody>
      </p:sp>
      <p:sp>
        <p:nvSpPr>
          <p:cNvPr id="8" name="TextBox 7"/>
          <p:cNvSpPr txBox="1"/>
          <p:nvPr/>
        </p:nvSpPr>
        <p:spPr>
          <a:xfrm>
            <a:off x="502920" y="1920240"/>
            <a:ext cx="12070080" cy="457200"/>
          </a:xfrm>
          <a:prstGeom prst="rect">
            <a:avLst/>
          </a:prstGeom>
          <a:noFill/>
        </p:spPr>
        <p:txBody>
          <a:bodyPr wrap="square" lIns="0" rIns="0" tIns="0" bIns="0" anchor="t">
            <a:spAutoFit/>
          </a:bodyPr>
          <a:lstStyle/>
          <a:p>
            <a:pPr algn="l">
              <a:lnSpc>
                <a:spcPct val="135000"/>
              </a:lnSpc>
            </a:pPr>
            <a:r>
              <a:rPr sz="1250" b="0">
                <a:solidFill>
                  <a:srgbClr val="404040"/>
                </a:solidFill>
                <a:latin typeface="Calibri"/>
              </a:rPr>
              <a:t>Der heutige Ansatz wäre nicht so verbreitet, wenn er nicht echte Vorteile hätte. Eine ehrliche Analyse muss diese erst benennen, bevor sie über Ablösung redet.</a:t>
            </a:r>
          </a:p>
        </p:txBody>
      </p:sp>
      <p:sp>
        <p:nvSpPr>
          <p:cNvPr id="9" name="Rectangle 8"/>
          <p:cNvSpPr/>
          <p:nvPr/>
        </p:nvSpPr>
        <p:spPr>
          <a:xfrm>
            <a:off x="502920" y="260604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60604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3464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NIEDRIGSCHWELLIG</a:t>
            </a:r>
          </a:p>
        </p:txBody>
      </p:sp>
      <p:sp>
        <p:nvSpPr>
          <p:cNvPr id="12" name="TextBox 11"/>
          <p:cNvSpPr txBox="1"/>
          <p:nvPr/>
        </p:nvSpPr>
        <p:spPr>
          <a:xfrm>
            <a:off x="777240" y="324612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Jedes Endgerät kann ein PDF öffnen — keine Anmeldung, kein Konto, keine BundID notwendig.</a:t>
            </a:r>
          </a:p>
        </p:txBody>
      </p:sp>
      <p:sp>
        <p:nvSpPr>
          <p:cNvPr id="13" name="Rectangle 12"/>
          <p:cNvSpPr/>
          <p:nvPr/>
        </p:nvSpPr>
        <p:spPr>
          <a:xfrm>
            <a:off x="4617720" y="260604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17720" y="260604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283464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RECHTLICH ETABLIERT</a:t>
            </a:r>
          </a:p>
        </p:txBody>
      </p:sp>
      <p:sp>
        <p:nvSpPr>
          <p:cNvPr id="16" name="TextBox 15"/>
          <p:cNvSpPr txBox="1"/>
          <p:nvPr/>
        </p:nvSpPr>
        <p:spPr>
          <a:xfrm>
            <a:off x="4892040" y="324612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PDF ist als amtliches Formularmedium seit Jahren erprobt — Schriftform, Unterschrift und Archivierung sind geklärt.</a:t>
            </a:r>
          </a:p>
        </p:txBody>
      </p:sp>
      <p:sp>
        <p:nvSpPr>
          <p:cNvPr id="17" name="Rectangle 16"/>
          <p:cNvSpPr/>
          <p:nvPr/>
        </p:nvSpPr>
        <p:spPr>
          <a:xfrm>
            <a:off x="8732520" y="260604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32520" y="260604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283464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OFFLINE BENUTZBAR</a:t>
            </a:r>
          </a:p>
        </p:txBody>
      </p:sp>
      <p:sp>
        <p:nvSpPr>
          <p:cNvPr id="20" name="TextBox 19"/>
          <p:cNvSpPr txBox="1"/>
          <p:nvPr/>
        </p:nvSpPr>
        <p:spPr>
          <a:xfrm>
            <a:off x="9006840" y="324612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Bürgerinnen und Bürger können das Formular speichern, in Ruhe ausfüllen und ohne Online-Zwang absenden.</a:t>
            </a:r>
          </a:p>
        </p:txBody>
      </p:sp>
      <p:sp>
        <p:nvSpPr>
          <p:cNvPr id="21" name="Rectangle 20"/>
          <p:cNvSpPr/>
          <p:nvPr/>
        </p:nvSpPr>
        <p:spPr>
          <a:xfrm>
            <a:off x="502920" y="457200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2920" y="457200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80060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KEINE IT IM AMT NÖTIG</a:t>
            </a:r>
          </a:p>
        </p:txBody>
      </p:sp>
      <p:sp>
        <p:nvSpPr>
          <p:cNvPr id="24" name="TextBox 23"/>
          <p:cNvSpPr txBox="1"/>
          <p:nvPr/>
        </p:nvSpPr>
        <p:spPr>
          <a:xfrm>
            <a:off x="777240" y="521208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Es braucht weder Datenbank noch Backend — die Verwaltung kommt mit Standard-Officeprozessen aus.</a:t>
            </a:r>
          </a:p>
        </p:txBody>
      </p:sp>
      <p:sp>
        <p:nvSpPr>
          <p:cNvPr id="25" name="Rectangle 24"/>
          <p:cNvSpPr/>
          <p:nvPr/>
        </p:nvSpPr>
        <p:spPr>
          <a:xfrm>
            <a:off x="4617720" y="457200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17720" y="457200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92040" y="480060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UNIVERSELL DRUCKBAR</a:t>
            </a:r>
          </a:p>
        </p:txBody>
      </p:sp>
      <p:sp>
        <p:nvSpPr>
          <p:cNvPr id="28" name="TextBox 27"/>
          <p:cNvSpPr txBox="1"/>
          <p:nvPr/>
        </p:nvSpPr>
        <p:spPr>
          <a:xfrm>
            <a:off x="4892040" y="521208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Ein PDF bleibt im Layout konstant — eine ausgedruckte Akte sieht überall gleich aus, ohne Render-Überraschungen.</a:t>
            </a:r>
          </a:p>
        </p:txBody>
      </p:sp>
      <p:sp>
        <p:nvSpPr>
          <p:cNvPr id="29" name="Rectangle 28"/>
          <p:cNvSpPr/>
          <p:nvPr/>
        </p:nvSpPr>
        <p:spPr>
          <a:xfrm>
            <a:off x="8732520" y="4572000"/>
            <a:ext cx="393192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732520" y="4572000"/>
            <a:ext cx="73152" cy="178308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40" y="480060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GERINGER PFLEGEAUFWAND</a:t>
            </a:r>
          </a:p>
        </p:txBody>
      </p:sp>
      <p:sp>
        <p:nvSpPr>
          <p:cNvPr id="32" name="TextBox 31"/>
          <p:cNvSpPr txBox="1"/>
          <p:nvPr/>
        </p:nvSpPr>
        <p:spPr>
          <a:xfrm>
            <a:off x="9006840" y="5212080"/>
            <a:ext cx="3520439" cy="100584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Eine PDF-Anpassung erfordert kein Deployment, keine Tests, keine CI/CD — ein neues Dokument reicht.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Genau dieselben Eigenschaften erzeugen die Schwächen des PDF-Verfahrens</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Quelle: eigene Auswertung der Rückläufer der Beratungsstelle für Senioren; Normenkontrollrat-Gutachten 2023; BFIT-Bund, „Barrieren in PDF-Formularen“ (2024).</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STATUS QUO  ·  SCHWÄCHEN UND FRIKTIONEN</a:t>
            </a:r>
          </a:p>
        </p:txBody>
      </p:sp>
      <p:sp>
        <p:nvSpPr>
          <p:cNvPr id="8" name="Rectangle 7"/>
          <p:cNvSpPr/>
          <p:nvPr/>
        </p:nvSpPr>
        <p:spPr>
          <a:xfrm>
            <a:off x="502920"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860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MEDIENBRÜCHE</a:t>
            </a:r>
          </a:p>
        </p:txBody>
      </p:sp>
      <p:sp>
        <p:nvSpPr>
          <p:cNvPr id="11" name="TextBox 10"/>
          <p:cNvSpPr txBox="1"/>
          <p:nvPr/>
        </p:nvSpPr>
        <p:spPr>
          <a:xfrm>
            <a:off x="731520" y="26974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Bürgerin tippt → druckt → unterschreibt → scannt → mailt → Amt tippt erneut. Jeder Schritt kostet Zeit und produziert Fehler.</a:t>
            </a:r>
          </a:p>
        </p:txBody>
      </p:sp>
      <p:sp>
        <p:nvSpPr>
          <p:cNvPr id="12" name="Rectangle 11"/>
          <p:cNvSpPr/>
          <p:nvPr/>
        </p:nvSpPr>
        <p:spPr>
          <a:xfrm>
            <a:off x="3602736"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02736"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6" y="22860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KEINE FELDVALIDIERUNG</a:t>
            </a:r>
          </a:p>
        </p:txBody>
      </p:sp>
      <p:sp>
        <p:nvSpPr>
          <p:cNvPr id="15" name="TextBox 14"/>
          <p:cNvSpPr txBox="1"/>
          <p:nvPr/>
        </p:nvSpPr>
        <p:spPr>
          <a:xfrm>
            <a:off x="3831336" y="26974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Ein PDF kann IBAN, E-Mail oder Datum nicht prüfen. Fehler fallen erst beim Sachbearbeiter — oder später bei der Banküberweisung — auf.</a:t>
            </a:r>
          </a:p>
        </p:txBody>
      </p:sp>
      <p:sp>
        <p:nvSpPr>
          <p:cNvPr id="16" name="Rectangle 15"/>
          <p:cNvSpPr/>
          <p:nvPr/>
        </p:nvSpPr>
        <p:spPr>
          <a:xfrm>
            <a:off x="6702552"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02552"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31152" y="22860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PFLICHTFELDER ÜBERSEHEN</a:t>
            </a:r>
          </a:p>
        </p:txBody>
      </p:sp>
      <p:sp>
        <p:nvSpPr>
          <p:cNvPr id="19" name="TextBox 18"/>
          <p:cNvSpPr txBox="1"/>
          <p:nvPr/>
        </p:nvSpPr>
        <p:spPr>
          <a:xfrm>
            <a:off x="6931152" y="26974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Hinweise im Lauftext werden überlesen; das Amt muss postalisch nachfordern, der Vorgang verzögert sich um Wochen.</a:t>
            </a:r>
          </a:p>
        </p:txBody>
      </p:sp>
      <p:sp>
        <p:nvSpPr>
          <p:cNvPr id="20" name="Rectangle 19"/>
          <p:cNvSpPr/>
          <p:nvPr/>
        </p:nvSpPr>
        <p:spPr>
          <a:xfrm>
            <a:off x="9802368"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02368"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30968" y="22860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HANDSCHRIFT</a:t>
            </a:r>
          </a:p>
        </p:txBody>
      </p:sp>
      <p:sp>
        <p:nvSpPr>
          <p:cNvPr id="23" name="TextBox 22"/>
          <p:cNvSpPr txBox="1"/>
          <p:nvPr/>
        </p:nvSpPr>
        <p:spPr>
          <a:xfrm>
            <a:off x="10030968" y="26974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Unleserliche Felder, Ziffern­dreher in der IBAN, vergessene Belege — die Datenqualität sinkt mit jeder manuellen Übertragung.</a:t>
            </a:r>
          </a:p>
        </p:txBody>
      </p:sp>
      <p:sp>
        <p:nvSpPr>
          <p:cNvPr id="24" name="Rectangle 23"/>
          <p:cNvSpPr/>
          <p:nvPr/>
        </p:nvSpPr>
        <p:spPr>
          <a:xfrm>
            <a:off x="502920"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3434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KEINE SPRACHALTERNATIVEN</a:t>
            </a:r>
          </a:p>
        </p:txBody>
      </p:sp>
      <p:sp>
        <p:nvSpPr>
          <p:cNvPr id="27" name="TextBox 26"/>
          <p:cNvSpPr txBox="1"/>
          <p:nvPr/>
        </p:nvSpPr>
        <p:spPr>
          <a:xfrm>
            <a:off x="731520" y="47548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Das Formular existiert nur auf Deutsch. Für Würzburger mit italienischer, türkischer oder spanischer Muttersprache ist der Antrag eine Bring-Schuld.</a:t>
            </a:r>
          </a:p>
        </p:txBody>
      </p:sp>
      <p:sp>
        <p:nvSpPr>
          <p:cNvPr id="28" name="Rectangle 27"/>
          <p:cNvSpPr/>
          <p:nvPr/>
        </p:nvSpPr>
        <p:spPr>
          <a:xfrm>
            <a:off x="3602736"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02736"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31336" y="43434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BARRIEREN</a:t>
            </a:r>
          </a:p>
        </p:txBody>
      </p:sp>
      <p:sp>
        <p:nvSpPr>
          <p:cNvPr id="31" name="TextBox 30"/>
          <p:cNvSpPr txBox="1"/>
          <p:nvPr/>
        </p:nvSpPr>
        <p:spPr>
          <a:xfrm>
            <a:off x="3831336" y="47548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Scan-PDFs sind für Screenreader praktisch unbenutzbar; viele Formulare erfüllen WCAG 2.1 AA nicht.</a:t>
            </a:r>
          </a:p>
        </p:txBody>
      </p:sp>
      <p:sp>
        <p:nvSpPr>
          <p:cNvPr id="32" name="Rectangle 31"/>
          <p:cNvSpPr/>
          <p:nvPr/>
        </p:nvSpPr>
        <p:spPr>
          <a:xfrm>
            <a:off x="6702552"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31152" y="43434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KEIN TRACKING</a:t>
            </a:r>
          </a:p>
        </p:txBody>
      </p:sp>
      <p:sp>
        <p:nvSpPr>
          <p:cNvPr id="35" name="TextBox 34"/>
          <p:cNvSpPr txBox="1"/>
          <p:nvPr/>
        </p:nvSpPr>
        <p:spPr>
          <a:xfrm>
            <a:off x="6931152" y="47548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„Wo ist mein Antrag?“ können weder Bürger noch Behörde aus dem PDF beantworten — der Vorgang ist eine Black Box.</a:t>
            </a:r>
          </a:p>
        </p:txBody>
      </p:sp>
      <p:sp>
        <p:nvSpPr>
          <p:cNvPr id="36" name="Rectangle 35"/>
          <p:cNvSpPr/>
          <p:nvPr/>
        </p:nvSpPr>
        <p:spPr>
          <a:xfrm>
            <a:off x="9802368"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02368"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0968" y="4343400"/>
            <a:ext cx="2569464" cy="365760"/>
          </a:xfrm>
          <a:prstGeom prst="rect">
            <a:avLst/>
          </a:prstGeom>
          <a:noFill/>
        </p:spPr>
        <p:txBody>
          <a:bodyPr wrap="square" lIns="0" rIns="0" tIns="0" bIns="0" anchor="t">
            <a:spAutoFit/>
          </a:bodyPr>
          <a:lstStyle/>
          <a:p>
            <a:pPr algn="l">
              <a:lnSpc>
                <a:spcPct val="115000"/>
              </a:lnSpc>
            </a:pPr>
            <a:r>
              <a:rPr sz="1050" b="1" spc="200">
                <a:solidFill>
                  <a:srgbClr val="BE2344"/>
                </a:solidFill>
                <a:latin typeface="Calibri"/>
              </a:rPr>
              <a:t>KEIN AUTOMATISCHES MATCHING</a:t>
            </a:r>
          </a:p>
        </p:txBody>
      </p:sp>
      <p:sp>
        <p:nvSpPr>
          <p:cNvPr id="39" name="TextBox 38"/>
          <p:cNvSpPr txBox="1"/>
          <p:nvPr/>
        </p:nvSpPr>
        <p:spPr>
          <a:xfrm>
            <a:off x="10030968" y="4754880"/>
            <a:ext cx="2569464" cy="105156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Das PDF wird nicht gegen die Förderrichtlinie geprüft — Plausibilität bleibt im Kopf der Sachbearbeitenden.</a:t>
            </a:r>
          </a:p>
        </p:txBody>
      </p:sp>
      <p:sp>
        <p:nvSpPr>
          <p:cNvPr id="40" name="Rectangle 39"/>
          <p:cNvSpPr/>
          <p:nvPr/>
        </p:nvSpPr>
        <p:spPr>
          <a:xfrm>
            <a:off x="502920" y="6080760"/>
            <a:ext cx="12024360" cy="73152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6199632"/>
            <a:ext cx="11475720" cy="274320"/>
          </a:xfrm>
          <a:prstGeom prst="rect">
            <a:avLst/>
          </a:prstGeom>
          <a:noFill/>
        </p:spPr>
        <p:txBody>
          <a:bodyPr wrap="square" lIns="0" rIns="0" tIns="0" bIns="0" anchor="t">
            <a:spAutoFit/>
          </a:bodyPr>
          <a:lstStyle/>
          <a:p>
            <a:pPr algn="l">
              <a:lnSpc>
                <a:spcPct val="115000"/>
              </a:lnSpc>
            </a:pPr>
            <a:r>
              <a:rPr sz="1000" b="1" spc="200">
                <a:solidFill>
                  <a:srgbClr val="FFB414"/>
                </a:solidFill>
                <a:latin typeface="Calibri"/>
              </a:rPr>
              <a:t>DIE SYNTHESE</a:t>
            </a:r>
          </a:p>
        </p:txBody>
      </p:sp>
      <p:sp>
        <p:nvSpPr>
          <p:cNvPr id="42" name="TextBox 41"/>
          <p:cNvSpPr txBox="1"/>
          <p:nvPr/>
        </p:nvSpPr>
        <p:spPr>
          <a:xfrm>
            <a:off x="777240" y="6473952"/>
            <a:ext cx="11475720" cy="320040"/>
          </a:xfrm>
          <a:prstGeom prst="rect">
            <a:avLst/>
          </a:prstGeom>
          <a:noFill/>
        </p:spPr>
        <p:txBody>
          <a:bodyPr wrap="square" lIns="0" rIns="0" tIns="0" bIns="0" anchor="t">
            <a:spAutoFit/>
          </a:bodyPr>
          <a:lstStyle/>
          <a:p>
            <a:pPr algn="l">
              <a:lnSpc>
                <a:spcPct val="115000"/>
              </a:lnSpc>
            </a:pPr>
            <a:r>
              <a:rPr sz="1150" b="0">
                <a:solidFill>
                  <a:srgbClr val="FFFFFF"/>
                </a:solidFill>
                <a:latin typeface="Calibri"/>
              </a:rPr>
              <a:t>Das PDF ist ein Daten­erfassungs-Werkzeug ohne Rückkanal — alle Validierung, Korrektur und Übersetzung muss menschlich übernommen werden, oft mehrfach.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Die Bürger-Journey heute: fünf Schritte, drei Medienbrüche, ein Rückfrage-Schleifenrisiko</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Schritte beobachtet bei der Beratungsstelle für Senioren der Stadt Würzburg.</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PROZESS HEUTE  ·  PDF-PFAD</a:t>
            </a:r>
          </a:p>
        </p:txBody>
      </p:sp>
      <p:sp>
        <p:nvSpPr>
          <p:cNvPr id="8" name="Rectangle 7"/>
          <p:cNvSpPr/>
          <p:nvPr/>
        </p:nvSpPr>
        <p:spPr>
          <a:xfrm>
            <a:off x="502920" y="2103120"/>
            <a:ext cx="2331720" cy="24231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103120"/>
            <a:ext cx="23317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31720"/>
            <a:ext cx="1965960" cy="50292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01</a:t>
            </a:r>
          </a:p>
        </p:txBody>
      </p:sp>
      <p:sp>
        <p:nvSpPr>
          <p:cNvPr id="11" name="TextBox 10"/>
          <p:cNvSpPr txBox="1"/>
          <p:nvPr/>
        </p:nvSpPr>
        <p:spPr>
          <a:xfrm>
            <a:off x="685800" y="2926079"/>
            <a:ext cx="196596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Suchen &amp; laden</a:t>
            </a:r>
          </a:p>
        </p:txBody>
      </p:sp>
      <p:sp>
        <p:nvSpPr>
          <p:cNvPr id="12" name="TextBox 11"/>
          <p:cNvSpPr txBox="1"/>
          <p:nvPr/>
        </p:nvSpPr>
        <p:spPr>
          <a:xfrm>
            <a:off x="685800" y="3337560"/>
            <a:ext cx="1965960" cy="10972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Bürgerin sucht im Formularcenter, lädt PDF + Anlagen + Förderrichtlinie.</a:t>
            </a:r>
          </a:p>
        </p:txBody>
      </p:sp>
      <p:sp>
        <p:nvSpPr>
          <p:cNvPr id="13" name="Chevron 12"/>
          <p:cNvSpPr/>
          <p:nvPr/>
        </p:nvSpPr>
        <p:spPr>
          <a:xfrm>
            <a:off x="2788920" y="3154679"/>
            <a:ext cx="201168" cy="310896"/>
          </a:xfrm>
          <a:prstGeom prst="chevron">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0" y="2103120"/>
            <a:ext cx="2331720" cy="24231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2103120"/>
            <a:ext cx="23317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0" y="2331720"/>
            <a:ext cx="1965960" cy="50292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02</a:t>
            </a:r>
          </a:p>
        </p:txBody>
      </p:sp>
      <p:sp>
        <p:nvSpPr>
          <p:cNvPr id="17" name="TextBox 16"/>
          <p:cNvSpPr txBox="1"/>
          <p:nvPr/>
        </p:nvSpPr>
        <p:spPr>
          <a:xfrm>
            <a:off x="3108960" y="2926079"/>
            <a:ext cx="196596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Drucken &amp; füllen</a:t>
            </a:r>
          </a:p>
        </p:txBody>
      </p:sp>
      <p:sp>
        <p:nvSpPr>
          <p:cNvPr id="18" name="TextBox 17"/>
          <p:cNvSpPr txBox="1"/>
          <p:nvPr/>
        </p:nvSpPr>
        <p:spPr>
          <a:xfrm>
            <a:off x="3108960" y="3337560"/>
            <a:ext cx="1965960" cy="10972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PDF wird ausgedruckt, handschriftlich oder im Reader ausgefüllt.</a:t>
            </a:r>
          </a:p>
        </p:txBody>
      </p:sp>
      <p:sp>
        <p:nvSpPr>
          <p:cNvPr id="19" name="Chevron 18"/>
          <p:cNvSpPr/>
          <p:nvPr/>
        </p:nvSpPr>
        <p:spPr>
          <a:xfrm>
            <a:off x="5212080" y="3154679"/>
            <a:ext cx="201168" cy="310896"/>
          </a:xfrm>
          <a:prstGeom prst="chevron">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9240" y="2103120"/>
            <a:ext cx="2331720" cy="24231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49240" y="2103120"/>
            <a:ext cx="23317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2331720"/>
            <a:ext cx="1965960" cy="50292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03</a:t>
            </a:r>
          </a:p>
        </p:txBody>
      </p:sp>
      <p:sp>
        <p:nvSpPr>
          <p:cNvPr id="23" name="TextBox 22"/>
          <p:cNvSpPr txBox="1"/>
          <p:nvPr/>
        </p:nvSpPr>
        <p:spPr>
          <a:xfrm>
            <a:off x="5532120" y="2926079"/>
            <a:ext cx="196596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Unterschreiben</a:t>
            </a:r>
          </a:p>
        </p:txBody>
      </p:sp>
      <p:sp>
        <p:nvSpPr>
          <p:cNvPr id="24" name="TextBox 23"/>
          <p:cNvSpPr txBox="1"/>
          <p:nvPr/>
        </p:nvSpPr>
        <p:spPr>
          <a:xfrm>
            <a:off x="5532120" y="3337560"/>
            <a:ext cx="1965960" cy="10972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Unterschrift, Belege beilegen, Konvolut zusammenstellen.</a:t>
            </a:r>
          </a:p>
        </p:txBody>
      </p:sp>
      <p:sp>
        <p:nvSpPr>
          <p:cNvPr id="25" name="Chevron 24"/>
          <p:cNvSpPr/>
          <p:nvPr/>
        </p:nvSpPr>
        <p:spPr>
          <a:xfrm>
            <a:off x="7635239" y="3154679"/>
            <a:ext cx="201168" cy="310896"/>
          </a:xfrm>
          <a:prstGeom prst="chevron">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0" y="2103120"/>
            <a:ext cx="2331720" cy="24231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0" y="2103120"/>
            <a:ext cx="23317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79" y="2331720"/>
            <a:ext cx="1965960" cy="50292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04</a:t>
            </a:r>
          </a:p>
        </p:txBody>
      </p:sp>
      <p:sp>
        <p:nvSpPr>
          <p:cNvPr id="29" name="TextBox 28"/>
          <p:cNvSpPr txBox="1"/>
          <p:nvPr/>
        </p:nvSpPr>
        <p:spPr>
          <a:xfrm>
            <a:off x="7955279" y="2926079"/>
            <a:ext cx="196596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Übermitteln</a:t>
            </a:r>
          </a:p>
        </p:txBody>
      </p:sp>
      <p:sp>
        <p:nvSpPr>
          <p:cNvPr id="30" name="TextBox 29"/>
          <p:cNvSpPr txBox="1"/>
          <p:nvPr/>
        </p:nvSpPr>
        <p:spPr>
          <a:xfrm>
            <a:off x="7955279" y="3337560"/>
            <a:ext cx="1965960" cy="10972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Per Post oder Scan-Mail an die Beratungsstelle für Senioren.</a:t>
            </a:r>
          </a:p>
        </p:txBody>
      </p:sp>
      <p:sp>
        <p:nvSpPr>
          <p:cNvPr id="31" name="Chevron 30"/>
          <p:cNvSpPr/>
          <p:nvPr/>
        </p:nvSpPr>
        <p:spPr>
          <a:xfrm>
            <a:off x="10058400" y="3154679"/>
            <a:ext cx="201168" cy="310896"/>
          </a:xfrm>
          <a:prstGeom prst="chevron">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95560" y="2103120"/>
            <a:ext cx="2331720" cy="24231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195560" y="2103120"/>
            <a:ext cx="23317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8440" y="2331720"/>
            <a:ext cx="1965960" cy="50292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05</a:t>
            </a:r>
          </a:p>
        </p:txBody>
      </p:sp>
      <p:sp>
        <p:nvSpPr>
          <p:cNvPr id="35" name="TextBox 34"/>
          <p:cNvSpPr txBox="1"/>
          <p:nvPr/>
        </p:nvSpPr>
        <p:spPr>
          <a:xfrm>
            <a:off x="10378440" y="2926079"/>
            <a:ext cx="196596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Manuelle Erfassung</a:t>
            </a:r>
          </a:p>
        </p:txBody>
      </p:sp>
      <p:sp>
        <p:nvSpPr>
          <p:cNvPr id="36" name="TextBox 35"/>
          <p:cNvSpPr txBox="1"/>
          <p:nvPr/>
        </p:nvSpPr>
        <p:spPr>
          <a:xfrm>
            <a:off x="10378440" y="3337560"/>
            <a:ext cx="1965960" cy="10972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Sachbearbeitung tippt die Daten manuell in das Fachverfahren.</a:t>
            </a:r>
          </a:p>
        </p:txBody>
      </p:sp>
      <p:sp>
        <p:nvSpPr>
          <p:cNvPr id="37" name="Rectangle 36"/>
          <p:cNvSpPr/>
          <p:nvPr/>
        </p:nvSpPr>
        <p:spPr>
          <a:xfrm>
            <a:off x="502920" y="4754880"/>
            <a:ext cx="12070080" cy="178308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892040"/>
            <a:ext cx="11521440" cy="320040"/>
          </a:xfrm>
          <a:prstGeom prst="rect">
            <a:avLst/>
          </a:prstGeom>
          <a:noFill/>
        </p:spPr>
        <p:txBody>
          <a:bodyPr wrap="square" lIns="0" rIns="0" tIns="0" bIns="0" anchor="t">
            <a:spAutoFit/>
          </a:bodyPr>
          <a:lstStyle/>
          <a:p>
            <a:pPr algn="l">
              <a:lnSpc>
                <a:spcPct val="115000"/>
              </a:lnSpc>
            </a:pPr>
            <a:r>
              <a:rPr sz="1100" b="1" spc="200">
                <a:solidFill>
                  <a:srgbClr val="BE2344"/>
                </a:solidFill>
                <a:latin typeface="Calibri"/>
              </a:rPr>
              <a:t>WAS DABEI SCHIEFGEHT</a:t>
            </a:r>
          </a:p>
        </p:txBody>
      </p:sp>
      <p:sp>
        <p:nvSpPr>
          <p:cNvPr id="39" name="TextBox 38"/>
          <p:cNvSpPr txBox="1"/>
          <p:nvPr/>
        </p:nvSpPr>
        <p:spPr>
          <a:xfrm>
            <a:off x="731520" y="5257800"/>
            <a:ext cx="2788920" cy="32004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IBAN-Zahlendreher</a:t>
            </a:r>
          </a:p>
        </p:txBody>
      </p:sp>
      <p:sp>
        <p:nvSpPr>
          <p:cNvPr id="40" name="TextBox 39"/>
          <p:cNvSpPr txBox="1"/>
          <p:nvPr/>
        </p:nvSpPr>
        <p:spPr>
          <a:xfrm>
            <a:off x="731520" y="5577840"/>
            <a:ext cx="2788920" cy="8686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Bank lehnt Auszahlung ab — Antrag verzögert sich um Wochen.</a:t>
            </a:r>
          </a:p>
        </p:txBody>
      </p:sp>
      <p:sp>
        <p:nvSpPr>
          <p:cNvPr id="41" name="TextBox 40"/>
          <p:cNvSpPr txBox="1"/>
          <p:nvPr/>
        </p:nvSpPr>
        <p:spPr>
          <a:xfrm>
            <a:off x="3657600" y="5257800"/>
            <a:ext cx="2788920" cy="32004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Anlagen vergessen</a:t>
            </a:r>
          </a:p>
        </p:txBody>
      </p:sp>
      <p:sp>
        <p:nvSpPr>
          <p:cNvPr id="42" name="TextBox 41"/>
          <p:cNvSpPr txBox="1"/>
          <p:nvPr/>
        </p:nvSpPr>
        <p:spPr>
          <a:xfrm>
            <a:off x="3657600" y="5577840"/>
            <a:ext cx="2788920" cy="8686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Beratungsstelle fordert postalisch nach — neue Schleife.</a:t>
            </a:r>
          </a:p>
        </p:txBody>
      </p:sp>
      <p:sp>
        <p:nvSpPr>
          <p:cNvPr id="43" name="TextBox 42"/>
          <p:cNvSpPr txBox="1"/>
          <p:nvPr/>
        </p:nvSpPr>
        <p:spPr>
          <a:xfrm>
            <a:off x="6583680" y="5257800"/>
            <a:ext cx="2788920" cy="32004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Handschrift unleserlich</a:t>
            </a:r>
          </a:p>
        </p:txBody>
      </p:sp>
      <p:sp>
        <p:nvSpPr>
          <p:cNvPr id="44" name="TextBox 43"/>
          <p:cNvSpPr txBox="1"/>
          <p:nvPr/>
        </p:nvSpPr>
        <p:spPr>
          <a:xfrm>
            <a:off x="6583680" y="5577840"/>
            <a:ext cx="2788920" cy="8686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Sachbearbeitung muss Daten interpretieren oder zurückfragen.</a:t>
            </a:r>
          </a:p>
        </p:txBody>
      </p:sp>
      <p:sp>
        <p:nvSpPr>
          <p:cNvPr id="45" name="TextBox 44"/>
          <p:cNvSpPr txBox="1"/>
          <p:nvPr/>
        </p:nvSpPr>
        <p:spPr>
          <a:xfrm>
            <a:off x="9509760" y="5257800"/>
            <a:ext cx="2788920" cy="32004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Sprachbarriere</a:t>
            </a:r>
          </a:p>
        </p:txBody>
      </p:sp>
      <p:sp>
        <p:nvSpPr>
          <p:cNvPr id="46" name="TextBox 45"/>
          <p:cNvSpPr txBox="1"/>
          <p:nvPr/>
        </p:nvSpPr>
        <p:spPr>
          <a:xfrm>
            <a:off x="9509760" y="5577840"/>
            <a:ext cx="2788920" cy="8686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Antragstellende ohne Deutsch-Kenntnisse brauchen externe Hilfe.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Reifegradstufe 1: das gleiche Formular — aber als Webformular, das im Browser mitdenkt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in Anlehnung an Gartner Government Maturity Model 2024 und OZG-Reifegrade des IT-Planungsrats.</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TRANSFORMATION  ·  DREI REIFEGRADSTUFEN</a:t>
            </a:r>
          </a:p>
        </p:txBody>
      </p:sp>
      <p:sp>
        <p:nvSpPr>
          <p:cNvPr id="8" name="Rectangle 7"/>
          <p:cNvSpPr/>
          <p:nvPr/>
        </p:nvSpPr>
        <p:spPr>
          <a:xfrm>
            <a:off x="502920" y="2304288"/>
            <a:ext cx="3931920" cy="38404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304288"/>
            <a:ext cx="3931920" cy="9144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32888"/>
            <a:ext cx="3474720" cy="320040"/>
          </a:xfrm>
          <a:prstGeom prst="rect">
            <a:avLst/>
          </a:prstGeom>
          <a:noFill/>
        </p:spPr>
        <p:txBody>
          <a:bodyPr wrap="square" lIns="0" rIns="0" tIns="0" bIns="0" anchor="t">
            <a:spAutoFit/>
          </a:bodyPr>
          <a:lstStyle/>
          <a:p>
            <a:pPr algn="l">
              <a:lnSpc>
                <a:spcPct val="115000"/>
              </a:lnSpc>
            </a:pPr>
            <a:r>
              <a:rPr sz="1050" b="1" spc="300">
                <a:solidFill>
                  <a:srgbClr val="7A7A7A"/>
                </a:solidFill>
                <a:latin typeface="Calibri"/>
              </a:rPr>
              <a:t>STUFE 0</a:t>
            </a:r>
          </a:p>
        </p:txBody>
      </p:sp>
      <p:sp>
        <p:nvSpPr>
          <p:cNvPr id="11" name="TextBox 10"/>
          <p:cNvSpPr txBox="1"/>
          <p:nvPr/>
        </p:nvSpPr>
        <p:spPr>
          <a:xfrm>
            <a:off x="777240" y="2898648"/>
            <a:ext cx="3474720" cy="502920"/>
          </a:xfrm>
          <a:prstGeom prst="rect">
            <a:avLst/>
          </a:prstGeom>
          <a:noFill/>
        </p:spPr>
        <p:txBody>
          <a:bodyPr wrap="square" lIns="0" rIns="0" tIns="0" bIns="0" anchor="t">
            <a:spAutoFit/>
          </a:bodyPr>
          <a:lstStyle/>
          <a:p>
            <a:pPr algn="l">
              <a:lnSpc>
                <a:spcPct val="115000"/>
              </a:lnSpc>
            </a:pPr>
            <a:r>
              <a:rPr sz="1800" b="1">
                <a:solidFill>
                  <a:srgbClr val="7A7A7A"/>
                </a:solidFill>
                <a:latin typeface="Calibri"/>
              </a:rPr>
              <a:t>PDF-DOWNLOAD</a:t>
            </a:r>
          </a:p>
        </p:txBody>
      </p:sp>
      <p:sp>
        <p:nvSpPr>
          <p:cNvPr id="12" name="TextBox 11"/>
          <p:cNvSpPr txBox="1"/>
          <p:nvPr/>
        </p:nvSpPr>
        <p:spPr>
          <a:xfrm>
            <a:off x="777240" y="3538728"/>
            <a:ext cx="3474720" cy="320040"/>
          </a:xfrm>
          <a:prstGeom prst="rect">
            <a:avLst/>
          </a:prstGeom>
          <a:noFill/>
        </p:spPr>
        <p:txBody>
          <a:bodyPr wrap="square" lIns="0" rIns="0" tIns="0" bIns="0" anchor="t">
            <a:spAutoFit/>
          </a:bodyPr>
          <a:lstStyle/>
          <a:p>
            <a:pPr algn="l">
              <a:lnSpc>
                <a:spcPct val="115000"/>
              </a:lnSpc>
            </a:pPr>
            <a:r>
              <a:rPr sz="1050" b="1" spc="200">
                <a:solidFill>
                  <a:srgbClr val="7A7A7A"/>
                </a:solidFill>
                <a:latin typeface="Calibri"/>
              </a:rPr>
              <a:t>Heutiger Stand</a:t>
            </a:r>
          </a:p>
        </p:txBody>
      </p:sp>
      <p:sp>
        <p:nvSpPr>
          <p:cNvPr id="13" name="TextBox 12"/>
          <p:cNvSpPr txBox="1"/>
          <p:nvPr/>
        </p:nvSpPr>
        <p:spPr>
          <a:xfrm>
            <a:off x="777240" y="3950208"/>
            <a:ext cx="3474720" cy="2011680"/>
          </a:xfrm>
          <a:prstGeom prst="rect">
            <a:avLst/>
          </a:prstGeom>
          <a:noFill/>
        </p:spPr>
        <p:txBody>
          <a:bodyPr wrap="square" lIns="0" rIns="0" tIns="0" bIns="0" anchor="t">
            <a:spAutoFit/>
          </a:bodyPr>
          <a:lstStyle/>
          <a:p>
            <a:pPr algn="l">
              <a:lnSpc>
                <a:spcPct val="135000"/>
              </a:lnSpc>
            </a:pPr>
            <a:r>
              <a:rPr sz="1100" b="0">
                <a:solidFill>
                  <a:srgbClr val="404040"/>
                </a:solidFill>
                <a:latin typeface="Calibri"/>
              </a:rPr>
              <a:t>Statisches PDF, manuelle Erfassung, Medienbrüche, keine Validierung — alles, was Slide 5 zeigt.</a:t>
            </a:r>
          </a:p>
        </p:txBody>
      </p:sp>
      <p:sp>
        <p:nvSpPr>
          <p:cNvPr id="14" name="Rectangle 13"/>
          <p:cNvSpPr/>
          <p:nvPr/>
        </p:nvSpPr>
        <p:spPr>
          <a:xfrm>
            <a:off x="4617720" y="2011680"/>
            <a:ext cx="3931920" cy="4434840"/>
          </a:xfrm>
          <a:prstGeom prst="rect">
            <a:avLst/>
          </a:prstGeom>
          <a:solidFill>
            <a:srgbClr val="E3DED1"/>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17720" y="2011680"/>
            <a:ext cx="3931920" cy="9144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92040" y="2240280"/>
            <a:ext cx="3474720" cy="320040"/>
          </a:xfrm>
          <a:prstGeom prst="rect">
            <a:avLst/>
          </a:prstGeom>
          <a:noFill/>
        </p:spPr>
        <p:txBody>
          <a:bodyPr wrap="square" lIns="0" rIns="0" tIns="0" bIns="0" anchor="t">
            <a:spAutoFit/>
          </a:bodyPr>
          <a:lstStyle/>
          <a:p>
            <a:pPr algn="l">
              <a:lnSpc>
                <a:spcPct val="115000"/>
              </a:lnSpc>
            </a:pPr>
            <a:r>
              <a:rPr sz="1050" b="1" spc="300">
                <a:solidFill>
                  <a:srgbClr val="FF6A00"/>
                </a:solidFill>
                <a:latin typeface="Calibri"/>
              </a:rPr>
              <a:t>STUFE 1</a:t>
            </a:r>
          </a:p>
        </p:txBody>
      </p:sp>
      <p:sp>
        <p:nvSpPr>
          <p:cNvPr id="17" name="TextBox 16"/>
          <p:cNvSpPr txBox="1"/>
          <p:nvPr/>
        </p:nvSpPr>
        <p:spPr>
          <a:xfrm>
            <a:off x="4892040" y="2606040"/>
            <a:ext cx="3474720" cy="502920"/>
          </a:xfrm>
          <a:prstGeom prst="rect">
            <a:avLst/>
          </a:prstGeom>
          <a:noFill/>
        </p:spPr>
        <p:txBody>
          <a:bodyPr wrap="square" lIns="0" rIns="0" tIns="0" bIns="0" anchor="t">
            <a:spAutoFit/>
          </a:bodyPr>
          <a:lstStyle/>
          <a:p>
            <a:pPr algn="l">
              <a:lnSpc>
                <a:spcPct val="115000"/>
              </a:lnSpc>
            </a:pPr>
            <a:r>
              <a:rPr sz="2200" b="1">
                <a:solidFill>
                  <a:srgbClr val="003E6E"/>
                </a:solidFill>
                <a:latin typeface="Calibri"/>
              </a:rPr>
              <a:t>WEBFORMULAR</a:t>
            </a:r>
          </a:p>
        </p:txBody>
      </p:sp>
      <p:sp>
        <p:nvSpPr>
          <p:cNvPr id="18" name="TextBox 17"/>
          <p:cNvSpPr txBox="1"/>
          <p:nvPr/>
        </p:nvSpPr>
        <p:spPr>
          <a:xfrm>
            <a:off x="4892040" y="3246120"/>
            <a:ext cx="3474720" cy="320040"/>
          </a:xfrm>
          <a:prstGeom prst="rect">
            <a:avLst/>
          </a:prstGeom>
          <a:noFill/>
        </p:spPr>
        <p:txBody>
          <a:bodyPr wrap="square" lIns="0" rIns="0" tIns="0" bIns="0" anchor="t">
            <a:spAutoFit/>
          </a:bodyPr>
          <a:lstStyle/>
          <a:p>
            <a:pPr algn="l">
              <a:lnSpc>
                <a:spcPct val="115000"/>
              </a:lnSpc>
            </a:pPr>
            <a:r>
              <a:rPr sz="1050" b="1" spc="200">
                <a:solidFill>
                  <a:srgbClr val="FF6A00"/>
                </a:solidFill>
                <a:latin typeface="Calibri"/>
              </a:rPr>
              <a:t>Diese UE</a:t>
            </a:r>
          </a:p>
        </p:txBody>
      </p:sp>
      <p:sp>
        <p:nvSpPr>
          <p:cNvPr id="19" name="TextBox 18"/>
          <p:cNvSpPr txBox="1"/>
          <p:nvPr/>
        </p:nvSpPr>
        <p:spPr>
          <a:xfrm>
            <a:off x="4892040" y="3657600"/>
            <a:ext cx="3474720" cy="2606039"/>
          </a:xfrm>
          <a:prstGeom prst="rect">
            <a:avLst/>
          </a:prstGeom>
          <a:noFill/>
        </p:spPr>
        <p:txBody>
          <a:bodyPr wrap="square" lIns="0" rIns="0" tIns="0" bIns="0" anchor="t">
            <a:spAutoFit/>
          </a:bodyPr>
          <a:lstStyle/>
          <a:p>
            <a:pPr algn="l">
              <a:lnSpc>
                <a:spcPct val="135000"/>
              </a:lnSpc>
            </a:pPr>
            <a:r>
              <a:rPr sz="1200" b="0">
                <a:solidFill>
                  <a:srgbClr val="404040"/>
                </a:solidFill>
                <a:latin typeface="Calibri"/>
              </a:rPr>
              <a:t>Intelligentes Webformular mit Validierung, Anlagen-Prüfung, Mehrsprachigkeit, Druckansicht — Daten bleiben (noch) im Browser bzw. fließen via Edge Function in eine Datenbank.</a:t>
            </a:r>
          </a:p>
        </p:txBody>
      </p:sp>
      <p:sp>
        <p:nvSpPr>
          <p:cNvPr id="20" name="Rectangle 19"/>
          <p:cNvSpPr/>
          <p:nvPr/>
        </p:nvSpPr>
        <p:spPr>
          <a:xfrm>
            <a:off x="8732520" y="2304288"/>
            <a:ext cx="3931920" cy="38404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32520" y="2304288"/>
            <a:ext cx="3931920" cy="9144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2532888"/>
            <a:ext cx="3474720" cy="320040"/>
          </a:xfrm>
          <a:prstGeom prst="rect">
            <a:avLst/>
          </a:prstGeom>
          <a:noFill/>
        </p:spPr>
        <p:txBody>
          <a:bodyPr wrap="square" lIns="0" rIns="0" tIns="0" bIns="0" anchor="t">
            <a:spAutoFit/>
          </a:bodyPr>
          <a:lstStyle/>
          <a:p>
            <a:pPr algn="l">
              <a:lnSpc>
                <a:spcPct val="115000"/>
              </a:lnSpc>
            </a:pPr>
            <a:r>
              <a:rPr sz="1050" b="1" spc="300">
                <a:solidFill>
                  <a:srgbClr val="7A7A7A"/>
                </a:solidFill>
                <a:latin typeface="Calibri"/>
              </a:rPr>
              <a:t>STUFE 2+</a:t>
            </a:r>
          </a:p>
        </p:txBody>
      </p:sp>
      <p:sp>
        <p:nvSpPr>
          <p:cNvPr id="23" name="TextBox 22"/>
          <p:cNvSpPr txBox="1"/>
          <p:nvPr/>
        </p:nvSpPr>
        <p:spPr>
          <a:xfrm>
            <a:off x="9006840" y="2898648"/>
            <a:ext cx="3474720" cy="502920"/>
          </a:xfrm>
          <a:prstGeom prst="rect">
            <a:avLst/>
          </a:prstGeom>
          <a:noFill/>
        </p:spPr>
        <p:txBody>
          <a:bodyPr wrap="square" lIns="0" rIns="0" tIns="0" bIns="0" anchor="t">
            <a:spAutoFit/>
          </a:bodyPr>
          <a:lstStyle/>
          <a:p>
            <a:pPr algn="l">
              <a:lnSpc>
                <a:spcPct val="115000"/>
              </a:lnSpc>
            </a:pPr>
            <a:r>
              <a:rPr sz="1800" b="1">
                <a:solidFill>
                  <a:srgbClr val="7A7A7A"/>
                </a:solidFill>
                <a:latin typeface="Calibri"/>
              </a:rPr>
              <a:t>ECHTES BACKEND</a:t>
            </a:r>
          </a:p>
        </p:txBody>
      </p:sp>
      <p:sp>
        <p:nvSpPr>
          <p:cNvPr id="24" name="TextBox 23"/>
          <p:cNvSpPr txBox="1"/>
          <p:nvPr/>
        </p:nvSpPr>
        <p:spPr>
          <a:xfrm>
            <a:off x="9006840" y="3538728"/>
            <a:ext cx="3474720" cy="320040"/>
          </a:xfrm>
          <a:prstGeom prst="rect">
            <a:avLst/>
          </a:prstGeom>
          <a:noFill/>
        </p:spPr>
        <p:txBody>
          <a:bodyPr wrap="square" lIns="0" rIns="0" tIns="0" bIns="0" anchor="t">
            <a:spAutoFit/>
          </a:bodyPr>
          <a:lstStyle/>
          <a:p>
            <a:pPr algn="l">
              <a:lnSpc>
                <a:spcPct val="115000"/>
              </a:lnSpc>
            </a:pPr>
            <a:r>
              <a:rPr sz="1050" b="1" spc="200">
                <a:solidFill>
                  <a:srgbClr val="7A7A7A"/>
                </a:solidFill>
                <a:latin typeface="Calibri"/>
              </a:rPr>
              <a:t>Brücke zu UE2 ff.</a:t>
            </a:r>
          </a:p>
        </p:txBody>
      </p:sp>
      <p:sp>
        <p:nvSpPr>
          <p:cNvPr id="25" name="TextBox 24"/>
          <p:cNvSpPr txBox="1"/>
          <p:nvPr/>
        </p:nvSpPr>
        <p:spPr>
          <a:xfrm>
            <a:off x="9006840" y="3950208"/>
            <a:ext cx="3474720" cy="2011680"/>
          </a:xfrm>
          <a:prstGeom prst="rect">
            <a:avLst/>
          </a:prstGeom>
          <a:noFill/>
        </p:spPr>
        <p:txBody>
          <a:bodyPr wrap="square" lIns="0" rIns="0" tIns="0" bIns="0" anchor="t">
            <a:spAutoFit/>
          </a:bodyPr>
          <a:lstStyle/>
          <a:p>
            <a:pPr algn="l">
              <a:lnSpc>
                <a:spcPct val="135000"/>
              </a:lnSpc>
            </a:pPr>
            <a:r>
              <a:rPr sz="1100" b="0">
                <a:solidFill>
                  <a:srgbClr val="404040"/>
                </a:solidFill>
                <a:latin typeface="Calibri"/>
              </a:rPr>
              <a:t>Persistenz, Eingangs­bestätigung, Status-Tracking, Anbindung an Fachverfahren und e-Akte; semantische Prüfung gegen die Förderrichtlinie (UE3) bis hin zum KI-Agent (UE5).</a:t>
            </a:r>
          </a:p>
        </p:txBody>
      </p:sp>
      <p:sp>
        <p:nvSpPr>
          <p:cNvPr id="26" name="TextBox 25"/>
          <p:cNvSpPr txBox="1"/>
          <p:nvPr/>
        </p:nvSpPr>
        <p:spPr>
          <a:xfrm>
            <a:off x="502920" y="6583680"/>
            <a:ext cx="12070080" cy="274320"/>
          </a:xfrm>
          <a:prstGeom prst="rect">
            <a:avLst/>
          </a:prstGeom>
          <a:noFill/>
        </p:spPr>
        <p:txBody>
          <a:bodyPr wrap="square" lIns="0" rIns="0" tIns="0" bIns="0" anchor="t">
            <a:spAutoFit/>
          </a:bodyPr>
          <a:lstStyle/>
          <a:p>
            <a:pPr algn="l">
              <a:lnSpc>
                <a:spcPct val="130000"/>
              </a:lnSpc>
            </a:pPr>
            <a:r>
              <a:rPr sz="1100" b="0">
                <a:solidFill>
                  <a:srgbClr val="003E6E"/>
                </a:solidFill>
                <a:latin typeface="Calibri"/>
              </a:rPr>
              <a:t>Stufe 1 ist deshalb wertvoll, weil sie ohne organisatorische Großreform sofort lieferbar ist — und gleichzeitig die Daten­modelle und Validierungen schafft, auf denen UE2 ff. aufbauen.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Die Zielarchitektur: vom Browser bis zur Datenbank — ein Kreis aus sechs Bausteinen</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Stack: TypeScript + Vite (Frontend) · Traefik + Kong + Supabase Edge Runtime · PostgreSQL + Object Storage (Backend).</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ARCHITEKTUR  ·  DATENFLUSS UE1</a:t>
            </a:r>
          </a:p>
        </p:txBody>
      </p:sp>
      <p:sp>
        <p:nvSpPr>
          <p:cNvPr id="8" name="Rectangle 7"/>
          <p:cNvSpPr/>
          <p:nvPr/>
        </p:nvSpPr>
        <p:spPr>
          <a:xfrm>
            <a:off x="502920" y="1920240"/>
            <a:ext cx="12070080" cy="292608"/>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65960"/>
            <a:ext cx="5943600" cy="228600"/>
          </a:xfrm>
          <a:prstGeom prst="rect">
            <a:avLst/>
          </a:prstGeom>
          <a:noFill/>
        </p:spPr>
        <p:txBody>
          <a:bodyPr wrap="square" lIns="0" rIns="0" tIns="0" bIns="0" anchor="t">
            <a:spAutoFit/>
          </a:bodyPr>
          <a:lstStyle/>
          <a:p>
            <a:pPr algn="l">
              <a:lnSpc>
                <a:spcPct val="115000"/>
              </a:lnSpc>
            </a:pPr>
            <a:r>
              <a:rPr sz="1000" b="1" spc="200">
                <a:solidFill>
                  <a:srgbClr val="FFB414"/>
                </a:solidFill>
                <a:latin typeface="Calibri"/>
              </a:rPr>
              <a:t>CLIENT  ·  BÜRGER:IN</a:t>
            </a:r>
          </a:p>
        </p:txBody>
      </p:sp>
      <p:sp>
        <p:nvSpPr>
          <p:cNvPr id="10" name="TextBox 9"/>
          <p:cNvSpPr txBox="1"/>
          <p:nvPr/>
        </p:nvSpPr>
        <p:spPr>
          <a:xfrm>
            <a:off x="6583680" y="1965960"/>
            <a:ext cx="5943600" cy="228600"/>
          </a:xfrm>
          <a:prstGeom prst="rect">
            <a:avLst/>
          </a:prstGeom>
          <a:noFill/>
        </p:spPr>
        <p:txBody>
          <a:bodyPr wrap="square" lIns="0" rIns="0" tIns="0" bIns="0" anchor="t">
            <a:spAutoFit/>
          </a:bodyPr>
          <a:lstStyle/>
          <a:p>
            <a:pPr algn="l">
              <a:lnSpc>
                <a:spcPct val="115000"/>
              </a:lnSpc>
            </a:pPr>
            <a:r>
              <a:rPr sz="1000" b="1" spc="200">
                <a:solidFill>
                  <a:srgbClr val="FFB414"/>
                </a:solidFill>
                <a:latin typeface="Calibri"/>
              </a:rPr>
              <a:t>EDGE &amp; BACKEND  ·  STADT WÜRZBURG</a:t>
            </a:r>
          </a:p>
        </p:txBody>
      </p:sp>
      <p:sp>
        <p:nvSpPr>
          <p:cNvPr id="11" name="Rectangle 10"/>
          <p:cNvSpPr/>
          <p:nvPr/>
        </p:nvSpPr>
        <p:spPr>
          <a:xfrm>
            <a:off x="502920" y="2423160"/>
            <a:ext cx="365760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423160"/>
            <a:ext cx="3657600" cy="9144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624328"/>
            <a:ext cx="329184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Browser (Client)</a:t>
            </a:r>
          </a:p>
        </p:txBody>
      </p:sp>
      <p:sp>
        <p:nvSpPr>
          <p:cNvPr id="14" name="TextBox 13"/>
          <p:cNvSpPr txBox="1"/>
          <p:nvPr/>
        </p:nvSpPr>
        <p:spPr>
          <a:xfrm>
            <a:off x="685800" y="306323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TypeScript + Vite Frontend</a:t>
            </a:r>
          </a:p>
        </p:txBody>
      </p:sp>
      <p:sp>
        <p:nvSpPr>
          <p:cNvPr id="15" name="TextBox 14"/>
          <p:cNvSpPr txBox="1"/>
          <p:nvPr/>
        </p:nvSpPr>
        <p:spPr>
          <a:xfrm>
            <a:off x="685800" y="333755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i18n DE/IT/TR/ES</a:t>
            </a:r>
          </a:p>
        </p:txBody>
      </p:sp>
      <p:sp>
        <p:nvSpPr>
          <p:cNvPr id="16" name="TextBox 15"/>
          <p:cNvSpPr txBox="1"/>
          <p:nvPr/>
        </p:nvSpPr>
        <p:spPr>
          <a:xfrm>
            <a:off x="685800" y="361187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Live-Validierung im DOM</a:t>
            </a:r>
          </a:p>
        </p:txBody>
      </p:sp>
      <p:sp>
        <p:nvSpPr>
          <p:cNvPr id="17" name="TextBox 16"/>
          <p:cNvSpPr txBox="1"/>
          <p:nvPr/>
        </p:nvSpPr>
        <p:spPr>
          <a:xfrm>
            <a:off x="685800" y="388620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FormData + fetch</a:t>
            </a:r>
          </a:p>
        </p:txBody>
      </p:sp>
      <p:sp>
        <p:nvSpPr>
          <p:cNvPr id="18" name="Rectangle 17"/>
          <p:cNvSpPr/>
          <p:nvPr/>
        </p:nvSpPr>
        <p:spPr>
          <a:xfrm>
            <a:off x="4526280" y="2423160"/>
            <a:ext cx="365760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26280" y="2423160"/>
            <a:ext cx="3657600" cy="91440"/>
          </a:xfrm>
          <a:prstGeom prst="rect">
            <a:avLst/>
          </a:prstGeom>
          <a:solidFill>
            <a:srgbClr val="4AB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09160" y="2624328"/>
            <a:ext cx="329184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Traefik (Reverse-Proxy)</a:t>
            </a:r>
          </a:p>
        </p:txBody>
      </p:sp>
      <p:sp>
        <p:nvSpPr>
          <p:cNvPr id="21" name="TextBox 20"/>
          <p:cNvSpPr txBox="1"/>
          <p:nvPr/>
        </p:nvSpPr>
        <p:spPr>
          <a:xfrm>
            <a:off x="4709160" y="306323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TLS-Terminierung</a:t>
            </a:r>
          </a:p>
        </p:txBody>
      </p:sp>
      <p:sp>
        <p:nvSpPr>
          <p:cNvPr id="22" name="TextBox 21"/>
          <p:cNvSpPr txBox="1"/>
          <p:nvPr/>
        </p:nvSpPr>
        <p:spPr>
          <a:xfrm>
            <a:off x="4709160" y="333755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Routing verwaltung.butscher.cloud</a:t>
            </a:r>
          </a:p>
        </p:txBody>
      </p:sp>
      <p:sp>
        <p:nvSpPr>
          <p:cNvPr id="23" name="TextBox 22"/>
          <p:cNvSpPr txBox="1"/>
          <p:nvPr/>
        </p:nvSpPr>
        <p:spPr>
          <a:xfrm>
            <a:off x="4709160" y="361187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PathPrefix-Filter /functions/v1/...</a:t>
            </a:r>
          </a:p>
        </p:txBody>
      </p:sp>
      <p:sp>
        <p:nvSpPr>
          <p:cNvPr id="24" name="TextBox 23"/>
          <p:cNvSpPr txBox="1"/>
          <p:nvPr/>
        </p:nvSpPr>
        <p:spPr>
          <a:xfrm>
            <a:off x="4709160" y="388620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HTTP-Header forwarden</a:t>
            </a:r>
          </a:p>
        </p:txBody>
      </p:sp>
      <p:sp>
        <p:nvSpPr>
          <p:cNvPr id="25" name="Rectangle 24"/>
          <p:cNvSpPr/>
          <p:nvPr/>
        </p:nvSpPr>
        <p:spPr>
          <a:xfrm>
            <a:off x="8549640" y="2423160"/>
            <a:ext cx="402336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549640" y="2423160"/>
            <a:ext cx="4023360" cy="91440"/>
          </a:xfrm>
          <a:prstGeom prst="rect">
            <a:avLst/>
          </a:prstGeom>
          <a:solidFill>
            <a:srgbClr val="4AB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19" y="2624328"/>
            <a:ext cx="365760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Kong API-Gateway</a:t>
            </a:r>
          </a:p>
        </p:txBody>
      </p:sp>
      <p:sp>
        <p:nvSpPr>
          <p:cNvPr id="28" name="TextBox 27"/>
          <p:cNvSpPr txBox="1"/>
          <p:nvPr/>
        </p:nvSpPr>
        <p:spPr>
          <a:xfrm>
            <a:off x="8732519" y="3063239"/>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JWT-/API-Key-Validierung</a:t>
            </a:r>
          </a:p>
        </p:txBody>
      </p:sp>
      <p:sp>
        <p:nvSpPr>
          <p:cNvPr id="29" name="TextBox 28"/>
          <p:cNvSpPr txBox="1"/>
          <p:nvPr/>
        </p:nvSpPr>
        <p:spPr>
          <a:xfrm>
            <a:off x="8732519" y="3337559"/>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CORS-Policy je Origin</a:t>
            </a:r>
          </a:p>
        </p:txBody>
      </p:sp>
      <p:sp>
        <p:nvSpPr>
          <p:cNvPr id="30" name="TextBox 29"/>
          <p:cNvSpPr txBox="1"/>
          <p:nvPr/>
        </p:nvSpPr>
        <p:spPr>
          <a:xfrm>
            <a:off x="8732519" y="3611879"/>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Routing zu Edge Runtime</a:t>
            </a:r>
          </a:p>
        </p:txBody>
      </p:sp>
      <p:sp>
        <p:nvSpPr>
          <p:cNvPr id="31" name="TextBox 30"/>
          <p:cNvSpPr txBox="1"/>
          <p:nvPr/>
        </p:nvSpPr>
        <p:spPr>
          <a:xfrm>
            <a:off x="8732519" y="3886200"/>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Rate-Limit-Hooks</a:t>
            </a:r>
          </a:p>
        </p:txBody>
      </p:sp>
      <p:sp>
        <p:nvSpPr>
          <p:cNvPr id="32" name="Rectangle 31"/>
          <p:cNvSpPr/>
          <p:nvPr/>
        </p:nvSpPr>
        <p:spPr>
          <a:xfrm>
            <a:off x="502920" y="4434840"/>
            <a:ext cx="365760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4434840"/>
            <a:ext cx="3657600" cy="9144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7"/>
            <a:ext cx="329184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Supabase Edge Function</a:t>
            </a:r>
          </a:p>
        </p:txBody>
      </p:sp>
      <p:sp>
        <p:nvSpPr>
          <p:cNvPr id="35" name="TextBox 34"/>
          <p:cNvSpPr txBox="1"/>
          <p:nvPr/>
        </p:nvSpPr>
        <p:spPr>
          <a:xfrm>
            <a:off x="685800" y="507492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Deno-Runtime, TypeScript</a:t>
            </a:r>
          </a:p>
        </p:txBody>
      </p:sp>
      <p:sp>
        <p:nvSpPr>
          <p:cNvPr id="36" name="TextBox 35"/>
          <p:cNvSpPr txBox="1"/>
          <p:nvPr/>
        </p:nvSpPr>
        <p:spPr>
          <a:xfrm>
            <a:off x="685800" y="534924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submit-antrag: validate → insert</a:t>
            </a:r>
          </a:p>
        </p:txBody>
      </p:sp>
      <p:sp>
        <p:nvSpPr>
          <p:cNvPr id="37" name="TextBox 36"/>
          <p:cNvSpPr txBox="1"/>
          <p:nvPr/>
        </p:nvSpPr>
        <p:spPr>
          <a:xfrm>
            <a:off x="685800" y="562355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Service-Role Key (intern)</a:t>
            </a:r>
          </a:p>
        </p:txBody>
      </p:sp>
      <p:sp>
        <p:nvSpPr>
          <p:cNvPr id="38" name="TextBox 37"/>
          <p:cNvSpPr txBox="1"/>
          <p:nvPr/>
        </p:nvSpPr>
        <p:spPr>
          <a:xfrm>
            <a:off x="685800" y="589787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Rollback bei Storage-Fail</a:t>
            </a:r>
          </a:p>
        </p:txBody>
      </p:sp>
      <p:sp>
        <p:nvSpPr>
          <p:cNvPr id="39" name="Rectangle 38"/>
          <p:cNvSpPr/>
          <p:nvPr/>
        </p:nvSpPr>
        <p:spPr>
          <a:xfrm>
            <a:off x="4526280" y="4434840"/>
            <a:ext cx="365760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26280" y="4434840"/>
            <a:ext cx="365760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09160" y="4636007"/>
            <a:ext cx="329184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PostgreSQL (apl2-Schema)</a:t>
            </a:r>
          </a:p>
        </p:txBody>
      </p:sp>
      <p:sp>
        <p:nvSpPr>
          <p:cNvPr id="42" name="TextBox 41"/>
          <p:cNvSpPr txBox="1"/>
          <p:nvPr/>
        </p:nvSpPr>
        <p:spPr>
          <a:xfrm>
            <a:off x="4709160" y="507492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antraege  ·  anlagen  ·  translations</a:t>
            </a:r>
          </a:p>
        </p:txBody>
      </p:sp>
      <p:sp>
        <p:nvSpPr>
          <p:cNvPr id="43" name="TextBox 42"/>
          <p:cNvSpPr txBox="1"/>
          <p:nvPr/>
        </p:nvSpPr>
        <p:spPr>
          <a:xfrm>
            <a:off x="4709160" y="5349240"/>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RLS aktiv (default-deny anon)</a:t>
            </a:r>
          </a:p>
        </p:txBody>
      </p:sp>
      <p:sp>
        <p:nvSpPr>
          <p:cNvPr id="44" name="TextBox 43"/>
          <p:cNvSpPr txBox="1"/>
          <p:nvPr/>
        </p:nvSpPr>
        <p:spPr>
          <a:xfrm>
            <a:off x="4709160" y="562355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Trigger: Antragsnummer-Generator</a:t>
            </a:r>
          </a:p>
        </p:txBody>
      </p:sp>
      <p:sp>
        <p:nvSpPr>
          <p:cNvPr id="45" name="TextBox 44"/>
          <p:cNvSpPr txBox="1"/>
          <p:nvPr/>
        </p:nvSpPr>
        <p:spPr>
          <a:xfrm>
            <a:off x="4709160" y="5897879"/>
            <a:ext cx="329184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Indexe für Sachbearbeitung</a:t>
            </a:r>
          </a:p>
        </p:txBody>
      </p:sp>
      <p:sp>
        <p:nvSpPr>
          <p:cNvPr id="46" name="Rectangle 45"/>
          <p:cNvSpPr/>
          <p:nvPr/>
        </p:nvSpPr>
        <p:spPr>
          <a:xfrm>
            <a:off x="8549640" y="4434840"/>
            <a:ext cx="4023360" cy="178308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49640" y="4434840"/>
            <a:ext cx="402336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732519" y="4636007"/>
            <a:ext cx="3657600" cy="36576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Object Storage (Bucket)</a:t>
            </a:r>
          </a:p>
        </p:txBody>
      </p:sp>
      <p:sp>
        <p:nvSpPr>
          <p:cNvPr id="49" name="TextBox 48"/>
          <p:cNvSpPr txBox="1"/>
          <p:nvPr/>
        </p:nvSpPr>
        <p:spPr>
          <a:xfrm>
            <a:off x="8732519" y="5074920"/>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Bucket: antragsbelege (privat)</a:t>
            </a:r>
          </a:p>
        </p:txBody>
      </p:sp>
      <p:sp>
        <p:nvSpPr>
          <p:cNvPr id="50" name="TextBox 49"/>
          <p:cNvSpPr txBox="1"/>
          <p:nvPr/>
        </p:nvSpPr>
        <p:spPr>
          <a:xfrm>
            <a:off x="8732519" y="5349240"/>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max. 10 MB · PDF/JPEG/PNG</a:t>
            </a:r>
          </a:p>
        </p:txBody>
      </p:sp>
      <p:sp>
        <p:nvSpPr>
          <p:cNvPr id="51" name="TextBox 50"/>
          <p:cNvSpPr txBox="1"/>
          <p:nvPr/>
        </p:nvSpPr>
        <p:spPr>
          <a:xfrm>
            <a:off x="8732519" y="5623559"/>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Signed URLs für Sachbearbeitung</a:t>
            </a:r>
          </a:p>
        </p:txBody>
      </p:sp>
      <p:sp>
        <p:nvSpPr>
          <p:cNvPr id="52" name="TextBox 51"/>
          <p:cNvSpPr txBox="1"/>
          <p:nvPr/>
        </p:nvSpPr>
        <p:spPr>
          <a:xfrm>
            <a:off x="8732519" y="5897879"/>
            <a:ext cx="3657600" cy="27432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  1:n-Bindung an Antragsdatensatz</a:t>
            </a:r>
          </a:p>
        </p:txBody>
      </p:sp>
      <p:cxnSp>
        <p:nvCxnSpPr>
          <p:cNvPr id="53" name="Connector 52"/>
          <p:cNvCxnSpPr/>
          <p:nvPr/>
        </p:nvCxnSpPr>
        <p:spPr>
          <a:xfrm>
            <a:off x="4160520" y="3310128"/>
            <a:ext cx="365760" cy="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183879" y="3310128"/>
            <a:ext cx="365761" cy="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0561320" y="4206240"/>
            <a:ext cx="0" cy="18288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2331720" y="4389120"/>
            <a:ext cx="8229600" cy="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331720" y="4389120"/>
            <a:ext cx="0" cy="4572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160520" y="5321807"/>
            <a:ext cx="365760" cy="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183879" y="5321807"/>
            <a:ext cx="365761" cy="0"/>
          </a:xfrm>
          <a:prstGeom prst="bentConnector3">
            <a:avLst/>
          </a:prstGeom>
          <a:ln w="19050">
            <a:solidFill>
              <a:srgbClr val="FF6A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Der Submit-Pfad in sechs Schritten: vom Klick „Antrag absenden“ bis zur Antragsnummer</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Code-Referenz: src/main.ts → src/supabase.ts → supabase/functions/submit-antrag/index.ts → migrations 001–005.</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ARCHITEKTUR  ·  SEQUENZ SUBMIT-PFAD</a:t>
            </a:r>
          </a:p>
        </p:txBody>
      </p:sp>
      <p:sp>
        <p:nvSpPr>
          <p:cNvPr id="8" name="Rectangle 7"/>
          <p:cNvSpPr/>
          <p:nvPr/>
        </p:nvSpPr>
        <p:spPr>
          <a:xfrm>
            <a:off x="960120" y="2103120"/>
            <a:ext cx="36576" cy="4526279"/>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2103120"/>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01</a:t>
            </a:r>
          </a:p>
        </p:txBody>
      </p:sp>
      <p:sp>
        <p:nvSpPr>
          <p:cNvPr id="10" name="TextBox 9"/>
          <p:cNvSpPr txBox="1"/>
          <p:nvPr/>
        </p:nvSpPr>
        <p:spPr>
          <a:xfrm>
            <a:off x="1417320" y="2057400"/>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FRONTEND-VALIDIERUNG</a:t>
            </a:r>
          </a:p>
        </p:txBody>
      </p:sp>
      <p:sp>
        <p:nvSpPr>
          <p:cNvPr id="11" name="TextBox 10"/>
          <p:cNvSpPr txBox="1"/>
          <p:nvPr/>
        </p:nvSpPr>
        <p:spPr>
          <a:xfrm>
            <a:off x="1417320" y="242316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main.ts liest das DOM mit leseAntragAusFormular → ruft pure Validierungsfunktionen (IBAN-Mod-97, E-Mail, Datum, Euro). Cross-Field-Regeln und Pflicht-Anlagen werden zusätzlich geprüft.</a:t>
            </a:r>
          </a:p>
        </p:txBody>
      </p:sp>
      <p:sp>
        <p:nvSpPr>
          <p:cNvPr id="12" name="Oval 11"/>
          <p:cNvSpPr/>
          <p:nvPr/>
        </p:nvSpPr>
        <p:spPr>
          <a:xfrm>
            <a:off x="758952" y="2880360"/>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02</a:t>
            </a:r>
          </a:p>
        </p:txBody>
      </p:sp>
      <p:sp>
        <p:nvSpPr>
          <p:cNvPr id="13" name="TextBox 12"/>
          <p:cNvSpPr txBox="1"/>
          <p:nvPr/>
        </p:nvSpPr>
        <p:spPr>
          <a:xfrm>
            <a:off x="1417320" y="2834640"/>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FORMDATA AUFBAUEN</a:t>
            </a:r>
          </a:p>
        </p:txBody>
      </p:sp>
      <p:sp>
        <p:nvSpPr>
          <p:cNvPr id="14" name="TextBox 13"/>
          <p:cNvSpPr txBox="1"/>
          <p:nvPr/>
        </p:nvSpPr>
        <p:spPr>
          <a:xfrm>
            <a:off x="1417320" y="320040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supabase.ts serialisiert den Antrag nach toSnakeCase und fügt jede Datei als FormData unter file__&lt;typ&gt; ein — alles in einer einzigen Multipart-Anfrage.</a:t>
            </a:r>
          </a:p>
        </p:txBody>
      </p:sp>
      <p:sp>
        <p:nvSpPr>
          <p:cNvPr id="15" name="Oval 14"/>
          <p:cNvSpPr/>
          <p:nvPr/>
        </p:nvSpPr>
        <p:spPr>
          <a:xfrm>
            <a:off x="758952" y="3657600"/>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03</a:t>
            </a:r>
          </a:p>
        </p:txBody>
      </p:sp>
      <p:sp>
        <p:nvSpPr>
          <p:cNvPr id="16" name="TextBox 15"/>
          <p:cNvSpPr txBox="1"/>
          <p:nvPr/>
        </p:nvSpPr>
        <p:spPr>
          <a:xfrm>
            <a:off x="1417320" y="3611880"/>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EDGE FUNCTION (DENO)</a:t>
            </a:r>
          </a:p>
        </p:txBody>
      </p:sp>
      <p:sp>
        <p:nvSpPr>
          <p:cNvPr id="17" name="TextBox 16"/>
          <p:cNvSpPr txBox="1"/>
          <p:nvPr/>
        </p:nvSpPr>
        <p:spPr>
          <a:xfrm>
            <a:off x="1417320" y="397764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submit-antrag/index.ts prüft Origin (CORS-Allowlist), Anlagen-Typen, MIME, Max-Bytes — und verwendet den SERVICE_ROLE_KEY nur intern, nie im Browser.</a:t>
            </a:r>
          </a:p>
        </p:txBody>
      </p:sp>
      <p:sp>
        <p:nvSpPr>
          <p:cNvPr id="18" name="Oval 17"/>
          <p:cNvSpPr/>
          <p:nvPr/>
        </p:nvSpPr>
        <p:spPr>
          <a:xfrm>
            <a:off x="758952" y="4434840"/>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04</a:t>
            </a:r>
          </a:p>
        </p:txBody>
      </p:sp>
      <p:sp>
        <p:nvSpPr>
          <p:cNvPr id="19" name="TextBox 18"/>
          <p:cNvSpPr txBox="1"/>
          <p:nvPr/>
        </p:nvSpPr>
        <p:spPr>
          <a:xfrm>
            <a:off x="1417320" y="4389120"/>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INSERT IN POSTGRES</a:t>
            </a:r>
          </a:p>
        </p:txBody>
      </p:sp>
      <p:sp>
        <p:nvSpPr>
          <p:cNvPr id="20" name="TextBox 19"/>
          <p:cNvSpPr txBox="1"/>
          <p:nvPr/>
        </p:nvSpPr>
        <p:spPr>
          <a:xfrm>
            <a:off x="1417320" y="475488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REST-Call an /rest/v1/antraege (Schema-Header Accept-/Content-Profile: apl2). Trigger trg_set_antragsnummer erzeugt das Format APL2-&lt;Jahr&gt;-&lt;KUE&gt;-&lt;random6&gt;.</a:t>
            </a:r>
          </a:p>
        </p:txBody>
      </p:sp>
      <p:sp>
        <p:nvSpPr>
          <p:cNvPr id="21" name="Oval 20"/>
          <p:cNvSpPr/>
          <p:nvPr/>
        </p:nvSpPr>
        <p:spPr>
          <a:xfrm>
            <a:off x="758952" y="5212079"/>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05</a:t>
            </a:r>
          </a:p>
        </p:txBody>
      </p:sp>
      <p:sp>
        <p:nvSpPr>
          <p:cNvPr id="22" name="TextBox 21"/>
          <p:cNvSpPr txBox="1"/>
          <p:nvPr/>
        </p:nvSpPr>
        <p:spPr>
          <a:xfrm>
            <a:off x="1417320" y="5166359"/>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STORAGE-UPLOAD</a:t>
            </a:r>
          </a:p>
        </p:txBody>
      </p:sp>
      <p:sp>
        <p:nvSpPr>
          <p:cNvPr id="23" name="TextBox 22"/>
          <p:cNvSpPr txBox="1"/>
          <p:nvPr/>
        </p:nvSpPr>
        <p:spPr>
          <a:xfrm>
            <a:off x="1417320" y="553212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Für jede Anlage Upload in den privaten Bucket antragsbelege; bei Fehlern macht die Edge Function einen vollständigen Rollback des Antragsdatensatzes.</a:t>
            </a:r>
          </a:p>
        </p:txBody>
      </p:sp>
      <p:sp>
        <p:nvSpPr>
          <p:cNvPr id="24" name="Oval 23"/>
          <p:cNvSpPr/>
          <p:nvPr/>
        </p:nvSpPr>
        <p:spPr>
          <a:xfrm>
            <a:off x="758952" y="5989320"/>
            <a:ext cx="457200" cy="457200"/>
          </a:xfrm>
          <a:prstGeom prst="ellipse">
            <a:avLst/>
          </a:prstGeom>
          <a:solidFill>
            <a:srgbClr val="003E6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06</a:t>
            </a:r>
          </a:p>
        </p:txBody>
      </p:sp>
      <p:sp>
        <p:nvSpPr>
          <p:cNvPr id="25" name="TextBox 24"/>
          <p:cNvSpPr txBox="1"/>
          <p:nvPr/>
        </p:nvSpPr>
        <p:spPr>
          <a:xfrm>
            <a:off x="1417320" y="5943600"/>
            <a:ext cx="352044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BESTÄTIGUNG</a:t>
            </a:r>
          </a:p>
        </p:txBody>
      </p:sp>
      <p:sp>
        <p:nvSpPr>
          <p:cNvPr id="26" name="TextBox 25"/>
          <p:cNvSpPr txBox="1"/>
          <p:nvPr/>
        </p:nvSpPr>
        <p:spPr>
          <a:xfrm>
            <a:off x="1417320" y="6309360"/>
            <a:ext cx="11155680" cy="365759"/>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Edge Function antwortet mit { antragsnummer, id }. Das Frontend ruft zeigeBestaetigung — Bürger:in sieht Antragsnummer und Druckoption.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Drei Verteidigungslinien gegen schlechte Daten — bevor der Antrag das Amt erreicht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Code-Referenz: src/validation.ts (IBAN nach ISO 13616 Mod-97); src/cross-field.ts; tests/validation.test.ts mit Vitest.</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DATENQUALITÄT  ·  VALIDIERUNG IN DREI SCHICHTEN</a:t>
            </a:r>
          </a:p>
        </p:txBody>
      </p:sp>
      <p:sp>
        <p:nvSpPr>
          <p:cNvPr id="8" name="Rectangle 7"/>
          <p:cNvSpPr/>
          <p:nvPr/>
        </p:nvSpPr>
        <p:spPr>
          <a:xfrm>
            <a:off x="502920" y="2011680"/>
            <a:ext cx="3931920" cy="40233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40280"/>
            <a:ext cx="3474720" cy="45720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01</a:t>
            </a:r>
          </a:p>
        </p:txBody>
      </p:sp>
      <p:sp>
        <p:nvSpPr>
          <p:cNvPr id="11" name="TextBox 10"/>
          <p:cNvSpPr txBox="1"/>
          <p:nvPr/>
        </p:nvSpPr>
        <p:spPr>
          <a:xfrm>
            <a:off x="777240" y="278892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FELDVALIDIERUNG</a:t>
            </a:r>
          </a:p>
        </p:txBody>
      </p:sp>
      <p:sp>
        <p:nvSpPr>
          <p:cNvPr id="12" name="TextBox 11"/>
          <p:cNvSpPr txBox="1"/>
          <p:nvPr/>
        </p:nvSpPr>
        <p:spPr>
          <a:xfrm>
            <a:off x="777240" y="3200400"/>
            <a:ext cx="3474720" cy="457200"/>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Pure Funktionen ohne DOM-/IO-Abhängigkeit:</a:t>
            </a:r>
          </a:p>
        </p:txBody>
      </p:sp>
      <p:sp>
        <p:nvSpPr>
          <p:cNvPr id="13" name="TextBox 12"/>
          <p:cNvSpPr txBox="1"/>
          <p:nvPr/>
        </p:nvSpPr>
        <p:spPr>
          <a:xfrm>
            <a:off x="777240" y="379476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isValidIBAN — ISO 13616, Mod-97-Prüfziffer</a:t>
            </a:r>
          </a:p>
        </p:txBody>
      </p:sp>
      <p:sp>
        <p:nvSpPr>
          <p:cNvPr id="14" name="TextBox 13"/>
          <p:cNvSpPr txBox="1"/>
          <p:nvPr/>
        </p:nvSpPr>
        <p:spPr>
          <a:xfrm>
            <a:off x="777240" y="429768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isValidEmail — RFC-konforme Mindestform</a:t>
            </a:r>
          </a:p>
        </p:txBody>
      </p:sp>
      <p:sp>
        <p:nvSpPr>
          <p:cNvPr id="15" name="TextBox 14"/>
          <p:cNvSpPr txBox="1"/>
          <p:nvPr/>
        </p:nvSpPr>
        <p:spPr>
          <a:xfrm>
            <a:off x="777240" y="480060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isValidPastOrTodayISO — kalendertreues Datum</a:t>
            </a:r>
          </a:p>
        </p:txBody>
      </p:sp>
      <p:sp>
        <p:nvSpPr>
          <p:cNvPr id="16" name="TextBox 15"/>
          <p:cNvSpPr txBox="1"/>
          <p:nvPr/>
        </p:nvSpPr>
        <p:spPr>
          <a:xfrm>
            <a:off x="777240" y="530352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isPositiveEuro — Number.isFinite &amp; &gt; 0</a:t>
            </a:r>
          </a:p>
        </p:txBody>
      </p:sp>
      <p:sp>
        <p:nvSpPr>
          <p:cNvPr id="17" name="Rectangle 16"/>
          <p:cNvSpPr/>
          <p:nvPr/>
        </p:nvSpPr>
        <p:spPr>
          <a:xfrm>
            <a:off x="4617720" y="2011680"/>
            <a:ext cx="3931920" cy="40233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177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92040" y="2240280"/>
            <a:ext cx="3474720" cy="45720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02</a:t>
            </a:r>
          </a:p>
        </p:txBody>
      </p:sp>
      <p:sp>
        <p:nvSpPr>
          <p:cNvPr id="20" name="TextBox 19"/>
          <p:cNvSpPr txBox="1"/>
          <p:nvPr/>
        </p:nvSpPr>
        <p:spPr>
          <a:xfrm>
            <a:off x="4892040" y="278892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CROSS-FIELD-REGELN</a:t>
            </a:r>
          </a:p>
        </p:txBody>
      </p:sp>
      <p:sp>
        <p:nvSpPr>
          <p:cNvPr id="21" name="TextBox 20"/>
          <p:cNvSpPr txBox="1"/>
          <p:nvPr/>
        </p:nvSpPr>
        <p:spPr>
          <a:xfrm>
            <a:off x="4892040" y="3200400"/>
            <a:ext cx="3474720" cy="457200"/>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Beziehungen zwischen Feldern (Geschäftsregeln):</a:t>
            </a:r>
          </a:p>
        </p:txBody>
      </p:sp>
      <p:sp>
        <p:nvSpPr>
          <p:cNvPr id="22" name="TextBox 21"/>
          <p:cNvSpPr txBox="1"/>
          <p:nvPr/>
        </p:nvSpPr>
        <p:spPr>
          <a:xfrm>
            <a:off x="4892040" y="379476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Keine eigenen Räume + nicht unentgeltlich → Miete &gt; 0</a:t>
            </a:r>
          </a:p>
        </p:txBody>
      </p:sp>
      <p:sp>
        <p:nvSpPr>
          <p:cNvPr id="23" name="TextBox 22"/>
          <p:cNvSpPr txBox="1"/>
          <p:nvPr/>
        </p:nvSpPr>
        <p:spPr>
          <a:xfrm>
            <a:off x="4892040" y="429768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Miete &gt; 0 → Mietvertrag als Anlage Pflicht</a:t>
            </a:r>
          </a:p>
        </p:txBody>
      </p:sp>
      <p:sp>
        <p:nvSpPr>
          <p:cNvPr id="24" name="TextBox 23"/>
          <p:cNvSpPr txBox="1"/>
          <p:nvPr/>
        </p:nvSpPr>
        <p:spPr>
          <a:xfrm>
            <a:off x="4892040" y="480060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Pflichtanlagen Programm, Kostennachweis, Personalkostenbelege</a:t>
            </a:r>
          </a:p>
        </p:txBody>
      </p:sp>
      <p:sp>
        <p:nvSpPr>
          <p:cNvPr id="25" name="TextBox 24"/>
          <p:cNvSpPr txBox="1"/>
          <p:nvPr/>
        </p:nvSpPr>
        <p:spPr>
          <a:xfrm>
            <a:off x="4892040" y="530352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Hinweise statt Fehler bei „nur ungewöhnlich“</a:t>
            </a:r>
          </a:p>
        </p:txBody>
      </p:sp>
      <p:sp>
        <p:nvSpPr>
          <p:cNvPr id="26" name="Rectangle 25"/>
          <p:cNvSpPr/>
          <p:nvPr/>
        </p:nvSpPr>
        <p:spPr>
          <a:xfrm>
            <a:off x="8732520" y="2011680"/>
            <a:ext cx="3931920" cy="40233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7325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2240280"/>
            <a:ext cx="3474720" cy="457200"/>
          </a:xfrm>
          <a:prstGeom prst="rect">
            <a:avLst/>
          </a:prstGeom>
          <a:noFill/>
        </p:spPr>
        <p:txBody>
          <a:bodyPr wrap="square" lIns="0" rIns="0" tIns="0" bIns="0" anchor="t">
            <a:spAutoFit/>
          </a:bodyPr>
          <a:lstStyle/>
          <a:p>
            <a:pPr algn="l">
              <a:lnSpc>
                <a:spcPct val="115000"/>
              </a:lnSpc>
            </a:pPr>
            <a:r>
              <a:rPr sz="2200" b="1">
                <a:solidFill>
                  <a:srgbClr val="FF6A00"/>
                </a:solidFill>
                <a:latin typeface="Calibri"/>
              </a:rPr>
              <a:t>03</a:t>
            </a:r>
          </a:p>
        </p:txBody>
      </p:sp>
      <p:sp>
        <p:nvSpPr>
          <p:cNvPr id="29" name="TextBox 28"/>
          <p:cNvSpPr txBox="1"/>
          <p:nvPr/>
        </p:nvSpPr>
        <p:spPr>
          <a:xfrm>
            <a:off x="9006840" y="2788920"/>
            <a:ext cx="3474720" cy="365760"/>
          </a:xfrm>
          <a:prstGeom prst="rect">
            <a:avLst/>
          </a:prstGeom>
          <a:noFill/>
        </p:spPr>
        <p:txBody>
          <a:bodyPr wrap="square" lIns="0" rIns="0" tIns="0" bIns="0" anchor="t">
            <a:spAutoFit/>
          </a:bodyPr>
          <a:lstStyle/>
          <a:p>
            <a:pPr algn="l">
              <a:lnSpc>
                <a:spcPct val="115000"/>
              </a:lnSpc>
            </a:pPr>
            <a:r>
              <a:rPr sz="1200" b="1" spc="200">
                <a:solidFill>
                  <a:srgbClr val="003E6E"/>
                </a:solidFill>
                <a:latin typeface="Calibri"/>
              </a:rPr>
              <a:t>ANLAGEN-VORPRÜFUNG</a:t>
            </a:r>
          </a:p>
        </p:txBody>
      </p:sp>
      <p:sp>
        <p:nvSpPr>
          <p:cNvPr id="30" name="TextBox 29"/>
          <p:cNvSpPr txBox="1"/>
          <p:nvPr/>
        </p:nvSpPr>
        <p:spPr>
          <a:xfrm>
            <a:off x="9006840" y="3200400"/>
            <a:ext cx="3474720" cy="457200"/>
          </a:xfrm>
          <a:prstGeom prst="rect">
            <a:avLst/>
          </a:prstGeom>
          <a:noFill/>
        </p:spPr>
        <p:txBody>
          <a:bodyPr wrap="square" lIns="0" rIns="0" tIns="0" bIns="0" anchor="t">
            <a:spAutoFit/>
          </a:bodyPr>
          <a:lstStyle/>
          <a:p>
            <a:pPr algn="l">
              <a:lnSpc>
                <a:spcPct val="130000"/>
              </a:lnSpc>
            </a:pPr>
            <a:r>
              <a:rPr sz="1100" b="0">
                <a:solidFill>
                  <a:srgbClr val="404040"/>
                </a:solidFill>
                <a:latin typeface="Calibri"/>
              </a:rPr>
              <a:t>Bevor Bytes an den Server gehen:</a:t>
            </a:r>
          </a:p>
        </p:txBody>
      </p:sp>
      <p:sp>
        <p:nvSpPr>
          <p:cNvPr id="31" name="TextBox 30"/>
          <p:cNvSpPr txBox="1"/>
          <p:nvPr/>
        </p:nvSpPr>
        <p:spPr>
          <a:xfrm>
            <a:off x="9006840" y="379476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Max. 10 MB pro Datei</a:t>
            </a:r>
          </a:p>
        </p:txBody>
      </p:sp>
      <p:sp>
        <p:nvSpPr>
          <p:cNvPr id="32" name="TextBox 31"/>
          <p:cNvSpPr txBox="1"/>
          <p:nvPr/>
        </p:nvSpPr>
        <p:spPr>
          <a:xfrm>
            <a:off x="9006840" y="429768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Nur application/pdf, image/jpeg, image/png</a:t>
            </a:r>
          </a:p>
        </p:txBody>
      </p:sp>
      <p:sp>
        <p:nvSpPr>
          <p:cNvPr id="33" name="TextBox 32"/>
          <p:cNvSpPr txBox="1"/>
          <p:nvPr/>
        </p:nvSpPr>
        <p:spPr>
          <a:xfrm>
            <a:off x="9006840" y="480060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Pflichtfelder pro Anlagen-Typ</a:t>
            </a:r>
          </a:p>
        </p:txBody>
      </p:sp>
      <p:sp>
        <p:nvSpPr>
          <p:cNvPr id="34" name="TextBox 33"/>
          <p:cNvSpPr txBox="1"/>
          <p:nvPr/>
        </p:nvSpPr>
        <p:spPr>
          <a:xfrm>
            <a:off x="9006840" y="5303520"/>
            <a:ext cx="3474720" cy="50292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  Doppel-Prüfung in Edge Function als Sicherheitsnetz</a:t>
            </a:r>
          </a:p>
        </p:txBody>
      </p:sp>
      <p:sp>
        <p:nvSpPr>
          <p:cNvPr id="35" name="Rectangle 34"/>
          <p:cNvSpPr/>
          <p:nvPr/>
        </p:nvSpPr>
        <p:spPr>
          <a:xfrm>
            <a:off x="502920" y="6217920"/>
            <a:ext cx="12070080" cy="59436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327648"/>
            <a:ext cx="11475720" cy="274320"/>
          </a:xfrm>
          <a:prstGeom prst="rect">
            <a:avLst/>
          </a:prstGeom>
          <a:noFill/>
        </p:spPr>
        <p:txBody>
          <a:bodyPr wrap="square" lIns="0" rIns="0" tIns="0" bIns="0" anchor="t">
            <a:spAutoFit/>
          </a:bodyPr>
          <a:lstStyle/>
          <a:p>
            <a:pPr algn="l">
              <a:lnSpc>
                <a:spcPct val="115000"/>
              </a:lnSpc>
            </a:pPr>
            <a:r>
              <a:rPr sz="1050" b="1" spc="200">
                <a:solidFill>
                  <a:srgbClr val="003E6E"/>
                </a:solidFill>
                <a:latin typeface="Calibri"/>
              </a:rPr>
              <a:t>TESTBARKEIT</a:t>
            </a:r>
          </a:p>
        </p:txBody>
      </p:sp>
      <p:sp>
        <p:nvSpPr>
          <p:cNvPr id="37" name="TextBox 36"/>
          <p:cNvSpPr txBox="1"/>
          <p:nvPr/>
        </p:nvSpPr>
        <p:spPr>
          <a:xfrm>
            <a:off x="777240" y="6565392"/>
            <a:ext cx="11475720" cy="228600"/>
          </a:xfrm>
          <a:prstGeom prst="rect">
            <a:avLst/>
          </a:prstGeom>
          <a:noFill/>
        </p:spPr>
        <p:txBody>
          <a:bodyPr wrap="square" lIns="0" rIns="0" tIns="0" bIns="0" anchor="t">
            <a:spAutoFit/>
          </a:bodyPr>
          <a:lstStyle/>
          <a:p>
            <a:pPr algn="l">
              <a:lnSpc>
                <a:spcPct val="115000"/>
              </a:lnSpc>
            </a:pPr>
            <a:r>
              <a:rPr sz="1050" b="0">
                <a:solidFill>
                  <a:srgbClr val="404040"/>
                </a:solidFill>
                <a:latin typeface="Calibri"/>
              </a:rPr>
              <a:t>Alle Validierungs- und Cross-Field-Funktionen sind pure Funktionen — sie laufen in Vitest ohne DOM/Backend. Wer entscheidet, sollte testbar sein.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Mehrsprachigkeit ist keine Schmuckfunktion — sie ist Integrationswerkzeug in einer vielsprachigen Stadt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Stadt Würzburg, Integrationsbericht 2024; Code-Referenz: src/i18n.ts, src/translations.ts.</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I18N  ·  VIER SPRACHEN AUS EINER JSON-TABELLE</a:t>
            </a:r>
          </a:p>
        </p:txBody>
      </p:sp>
      <p:sp>
        <p:nvSpPr>
          <p:cNvPr id="8" name="TextBox 7"/>
          <p:cNvSpPr txBox="1"/>
          <p:nvPr/>
        </p:nvSpPr>
        <p:spPr>
          <a:xfrm>
            <a:off x="502920" y="1920240"/>
            <a:ext cx="6080760"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WARUM VIER SPRACHEN?</a:t>
            </a:r>
          </a:p>
        </p:txBody>
      </p:sp>
      <p:sp>
        <p:nvSpPr>
          <p:cNvPr id="9" name="TextBox 8"/>
          <p:cNvSpPr txBox="1"/>
          <p:nvPr/>
        </p:nvSpPr>
        <p:spPr>
          <a:xfrm>
            <a:off x="502920" y="2331720"/>
            <a:ext cx="6080760" cy="4114800"/>
          </a:xfrm>
          <a:prstGeom prst="rect">
            <a:avLst/>
          </a:prstGeom>
          <a:noFill/>
        </p:spPr>
        <p:txBody>
          <a:bodyPr wrap="square" lIns="0" rIns="0" tIns="0" bIns="0" anchor="t">
            <a:spAutoFit/>
          </a:bodyPr>
          <a:lstStyle/>
          <a:p>
            <a:pPr algn="l">
              <a:lnSpc>
                <a:spcPct val="140000"/>
              </a:lnSpc>
            </a:pPr>
            <a:r>
              <a:rPr sz="1150" b="0">
                <a:solidFill>
                  <a:srgbClr val="404040"/>
                </a:solidFill>
                <a:latin typeface="Calibri"/>
              </a:rPr>
              <a:t>Würzburg hat eine traditionell starke italienische, türkische und spanischsprachige Community. Wer einen Antrag in der Muttersprache lesen kann, versteht die Pflichtfelder besser, fragt seltener nach und reicht weniger fehlerhafte Unterlagen ein. Damit ist i18n direkt eine Maßnahme zur Daten­qualität — nicht nur ein „nice to have“.
Technisch realisiert über data-i18n-Attribute im HTML und eine einzige JSON-Tabelle pro Sprache. setSprache persistiert die Wahl in localStorage; ein zentrales applyTranslations rendert alle markierten Elemente neu. Tests stellen sicher, dass jede neue Sprache vollständige Key-Abdeckung hat.</a:t>
            </a:r>
          </a:p>
        </p:txBody>
      </p:sp>
      <p:sp>
        <p:nvSpPr>
          <p:cNvPr id="10" name="Rectangle 9"/>
          <p:cNvSpPr/>
          <p:nvPr/>
        </p:nvSpPr>
        <p:spPr>
          <a:xfrm>
            <a:off x="6903720" y="1920240"/>
            <a:ext cx="2743200" cy="137160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03720" y="1920240"/>
            <a:ext cx="73152" cy="13716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2103120"/>
            <a:ext cx="2286000" cy="457200"/>
          </a:xfrm>
          <a:prstGeom prst="rect">
            <a:avLst/>
          </a:prstGeom>
          <a:noFill/>
        </p:spPr>
        <p:txBody>
          <a:bodyPr wrap="square" lIns="0" rIns="0" tIns="0" bIns="0" anchor="t">
            <a:spAutoFit/>
          </a:bodyPr>
          <a:lstStyle/>
          <a:p>
            <a:pPr algn="l">
              <a:lnSpc>
                <a:spcPct val="115000"/>
              </a:lnSpc>
            </a:pPr>
            <a:r>
              <a:rPr sz="2200" b="1">
                <a:solidFill>
                  <a:srgbClr val="003E6E"/>
                </a:solidFill>
                <a:latin typeface="Calibri"/>
              </a:rPr>
              <a:t>DE</a:t>
            </a:r>
          </a:p>
        </p:txBody>
      </p:sp>
      <p:sp>
        <p:nvSpPr>
          <p:cNvPr id="13" name="TextBox 12"/>
          <p:cNvSpPr txBox="1"/>
          <p:nvPr/>
        </p:nvSpPr>
        <p:spPr>
          <a:xfrm>
            <a:off x="7178040" y="2560320"/>
            <a:ext cx="2286000" cy="27432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Deutsch</a:t>
            </a:r>
          </a:p>
        </p:txBody>
      </p:sp>
      <p:sp>
        <p:nvSpPr>
          <p:cNvPr id="14" name="TextBox 13"/>
          <p:cNvSpPr txBox="1"/>
          <p:nvPr/>
        </p:nvSpPr>
        <p:spPr>
          <a:xfrm>
            <a:off x="7178040" y="2834640"/>
            <a:ext cx="2286000" cy="41148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Maßgeblicher Wortlaut</a:t>
            </a:r>
          </a:p>
        </p:txBody>
      </p:sp>
      <p:sp>
        <p:nvSpPr>
          <p:cNvPr id="15" name="Rectangle 14"/>
          <p:cNvSpPr/>
          <p:nvPr/>
        </p:nvSpPr>
        <p:spPr>
          <a:xfrm>
            <a:off x="9784080" y="1920240"/>
            <a:ext cx="2743200" cy="137160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84080" y="1920240"/>
            <a:ext cx="73152" cy="137160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0" y="2103120"/>
            <a:ext cx="2286000" cy="457200"/>
          </a:xfrm>
          <a:prstGeom prst="rect">
            <a:avLst/>
          </a:prstGeom>
          <a:noFill/>
        </p:spPr>
        <p:txBody>
          <a:bodyPr wrap="square" lIns="0" rIns="0" tIns="0" bIns="0" anchor="t">
            <a:spAutoFit/>
          </a:bodyPr>
          <a:lstStyle/>
          <a:p>
            <a:pPr algn="l">
              <a:lnSpc>
                <a:spcPct val="115000"/>
              </a:lnSpc>
            </a:pPr>
            <a:r>
              <a:rPr sz="2200" b="1">
                <a:solidFill>
                  <a:srgbClr val="8AB833"/>
                </a:solidFill>
                <a:latin typeface="Calibri"/>
              </a:rPr>
              <a:t>IT</a:t>
            </a:r>
          </a:p>
        </p:txBody>
      </p:sp>
      <p:sp>
        <p:nvSpPr>
          <p:cNvPr id="18" name="TextBox 17"/>
          <p:cNvSpPr txBox="1"/>
          <p:nvPr/>
        </p:nvSpPr>
        <p:spPr>
          <a:xfrm>
            <a:off x="10058400" y="2560320"/>
            <a:ext cx="2286000" cy="27432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Italiano</a:t>
            </a:r>
          </a:p>
        </p:txBody>
      </p:sp>
      <p:sp>
        <p:nvSpPr>
          <p:cNvPr id="19" name="TextBox 18"/>
          <p:cNvSpPr txBox="1"/>
          <p:nvPr/>
        </p:nvSpPr>
        <p:spPr>
          <a:xfrm>
            <a:off x="10058400" y="2834640"/>
            <a:ext cx="2286000" cy="41148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Comunità italiana storica</a:t>
            </a:r>
          </a:p>
        </p:txBody>
      </p:sp>
      <p:sp>
        <p:nvSpPr>
          <p:cNvPr id="20" name="Rectangle 19"/>
          <p:cNvSpPr/>
          <p:nvPr/>
        </p:nvSpPr>
        <p:spPr>
          <a:xfrm>
            <a:off x="6903720" y="3474720"/>
            <a:ext cx="2743200" cy="137160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03720" y="3474720"/>
            <a:ext cx="73152" cy="137160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78040" y="3657600"/>
            <a:ext cx="2286000" cy="457200"/>
          </a:xfrm>
          <a:prstGeom prst="rect">
            <a:avLst/>
          </a:prstGeom>
          <a:noFill/>
        </p:spPr>
        <p:txBody>
          <a:bodyPr wrap="square" lIns="0" rIns="0" tIns="0" bIns="0" anchor="t">
            <a:spAutoFit/>
          </a:bodyPr>
          <a:lstStyle/>
          <a:p>
            <a:pPr algn="l">
              <a:lnSpc>
                <a:spcPct val="115000"/>
              </a:lnSpc>
            </a:pPr>
            <a:r>
              <a:rPr sz="2200" b="1">
                <a:solidFill>
                  <a:srgbClr val="BE2344"/>
                </a:solidFill>
                <a:latin typeface="Calibri"/>
              </a:rPr>
              <a:t>TR</a:t>
            </a:r>
          </a:p>
        </p:txBody>
      </p:sp>
      <p:sp>
        <p:nvSpPr>
          <p:cNvPr id="23" name="TextBox 22"/>
          <p:cNvSpPr txBox="1"/>
          <p:nvPr/>
        </p:nvSpPr>
        <p:spPr>
          <a:xfrm>
            <a:off x="7178040" y="4114800"/>
            <a:ext cx="2286000" cy="27432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Türkçe</a:t>
            </a:r>
          </a:p>
        </p:txBody>
      </p:sp>
      <p:sp>
        <p:nvSpPr>
          <p:cNvPr id="24" name="TextBox 23"/>
          <p:cNvSpPr txBox="1"/>
          <p:nvPr/>
        </p:nvSpPr>
        <p:spPr>
          <a:xfrm>
            <a:off x="7178040" y="4389120"/>
            <a:ext cx="2286000" cy="41148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Größte ausländische Gruppe</a:t>
            </a:r>
          </a:p>
        </p:txBody>
      </p:sp>
      <p:sp>
        <p:nvSpPr>
          <p:cNvPr id="25" name="Rectangle 24"/>
          <p:cNvSpPr/>
          <p:nvPr/>
        </p:nvSpPr>
        <p:spPr>
          <a:xfrm>
            <a:off x="9784080" y="3474720"/>
            <a:ext cx="2743200" cy="137160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84080" y="3474720"/>
            <a:ext cx="73152" cy="1371600"/>
          </a:xfrm>
          <a:prstGeom prst="rect">
            <a:avLst/>
          </a:prstGeom>
          <a:solidFill>
            <a:srgbClr val="4AB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3657600"/>
            <a:ext cx="2286000" cy="457200"/>
          </a:xfrm>
          <a:prstGeom prst="rect">
            <a:avLst/>
          </a:prstGeom>
          <a:noFill/>
        </p:spPr>
        <p:txBody>
          <a:bodyPr wrap="square" lIns="0" rIns="0" tIns="0" bIns="0" anchor="t">
            <a:spAutoFit/>
          </a:bodyPr>
          <a:lstStyle/>
          <a:p>
            <a:pPr algn="l">
              <a:lnSpc>
                <a:spcPct val="115000"/>
              </a:lnSpc>
            </a:pPr>
            <a:r>
              <a:rPr sz="2200" b="1">
                <a:solidFill>
                  <a:srgbClr val="4AB5C4"/>
                </a:solidFill>
                <a:latin typeface="Calibri"/>
              </a:rPr>
              <a:t>ES</a:t>
            </a:r>
          </a:p>
        </p:txBody>
      </p:sp>
      <p:sp>
        <p:nvSpPr>
          <p:cNvPr id="28" name="TextBox 27"/>
          <p:cNvSpPr txBox="1"/>
          <p:nvPr/>
        </p:nvSpPr>
        <p:spPr>
          <a:xfrm>
            <a:off x="10058400" y="4114800"/>
            <a:ext cx="2286000" cy="274320"/>
          </a:xfrm>
          <a:prstGeom prst="rect">
            <a:avLst/>
          </a:prstGeom>
          <a:noFill/>
        </p:spPr>
        <p:txBody>
          <a:bodyPr wrap="square" lIns="0" rIns="0" tIns="0" bIns="0" anchor="t">
            <a:spAutoFit/>
          </a:bodyPr>
          <a:lstStyle/>
          <a:p>
            <a:pPr algn="l">
              <a:lnSpc>
                <a:spcPct val="115000"/>
              </a:lnSpc>
            </a:pPr>
            <a:r>
              <a:rPr sz="1200" b="1">
                <a:solidFill>
                  <a:srgbClr val="003E6E"/>
                </a:solidFill>
                <a:latin typeface="Calibri"/>
              </a:rPr>
              <a:t>Español</a:t>
            </a:r>
          </a:p>
        </p:txBody>
      </p:sp>
      <p:sp>
        <p:nvSpPr>
          <p:cNvPr id="29" name="TextBox 28"/>
          <p:cNvSpPr txBox="1"/>
          <p:nvPr/>
        </p:nvSpPr>
        <p:spPr>
          <a:xfrm>
            <a:off x="10058400" y="4389120"/>
            <a:ext cx="2286000" cy="411480"/>
          </a:xfrm>
          <a:prstGeom prst="rect">
            <a:avLst/>
          </a:prstGeom>
          <a:noFill/>
        </p:spPr>
        <p:txBody>
          <a:bodyPr wrap="square" lIns="0" rIns="0" tIns="0" bIns="0" anchor="t">
            <a:spAutoFit/>
          </a:bodyPr>
          <a:lstStyle/>
          <a:p>
            <a:pPr algn="l">
              <a:lnSpc>
                <a:spcPct val="125000"/>
              </a:lnSpc>
            </a:pPr>
            <a:r>
              <a:rPr sz="1000" b="0">
                <a:solidFill>
                  <a:srgbClr val="404040"/>
                </a:solidFill>
                <a:latin typeface="Calibri"/>
              </a:rPr>
              <a:t>Comunidad hispanohablante</a:t>
            </a:r>
          </a:p>
        </p:txBody>
      </p:sp>
      <p:sp>
        <p:nvSpPr>
          <p:cNvPr id="30" name="Rectangle 29"/>
          <p:cNvSpPr/>
          <p:nvPr/>
        </p:nvSpPr>
        <p:spPr>
          <a:xfrm>
            <a:off x="6903720" y="5166360"/>
            <a:ext cx="5669280" cy="141732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6600" y="5285232"/>
            <a:ext cx="539496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VORBEHALT  ·  DEMO-QUALITÄT</a:t>
            </a:r>
          </a:p>
        </p:txBody>
      </p:sp>
      <p:sp>
        <p:nvSpPr>
          <p:cNvPr id="32" name="TextBox 31"/>
          <p:cNvSpPr txBox="1"/>
          <p:nvPr/>
        </p:nvSpPr>
        <p:spPr>
          <a:xfrm>
            <a:off x="7086600" y="5577840"/>
            <a:ext cx="5394960" cy="1005840"/>
          </a:xfrm>
          <a:prstGeom prst="rect">
            <a:avLst/>
          </a:prstGeom>
          <a:noFill/>
        </p:spPr>
        <p:txBody>
          <a:bodyPr wrap="square" lIns="0" rIns="0" tIns="0" bIns="0" anchor="t">
            <a:spAutoFit/>
          </a:bodyPr>
          <a:lstStyle/>
          <a:p>
            <a:pPr algn="l">
              <a:lnSpc>
                <a:spcPct val="132000"/>
              </a:lnSpc>
            </a:pPr>
            <a:r>
              <a:rPr sz="1050" b="0">
                <a:solidFill>
                  <a:srgbClr val="404040"/>
                </a:solidFill>
                <a:latin typeface="Calibri"/>
              </a:rPr>
              <a:t>Die Übersetzungen sind Lehr-Demo-Qualität. Für den Produktivbetrieb müssten Fachübersetzer:innen ran — gerade bei juristischen Termini der Förderrichtlinie AHP. Der deutsche Wortlaut bleibt verbindlich.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Das Datenmodell spiegelt das PDF-Formular 1:1 — und macht es maschinen­auswertbar</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Code-Referenz: src/types.ts (APL2Antrag, Anlage, AnlagenTyp); supabase/migrations/001_schema_apl2.sql.</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DATENMODELL  ·  SCHEMA APL2 + STORAGE-BUCKET</a:t>
            </a:r>
          </a:p>
        </p:txBody>
      </p:sp>
      <p:sp>
        <p:nvSpPr>
          <p:cNvPr id="8" name="Rectangle 7"/>
          <p:cNvSpPr/>
          <p:nvPr/>
        </p:nvSpPr>
        <p:spPr>
          <a:xfrm>
            <a:off x="502920" y="2011680"/>
            <a:ext cx="3840480" cy="4754880"/>
          </a:xfrm>
          <a:prstGeom prst="rect">
            <a:avLst/>
          </a:prstGeom>
          <a:solidFill>
            <a:srgbClr val="FFFFFF"/>
          </a:solidFill>
          <a:ln w="635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384048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40280"/>
            <a:ext cx="3474720" cy="365760"/>
          </a:xfrm>
          <a:prstGeom prst="rect">
            <a:avLst/>
          </a:prstGeom>
          <a:noFill/>
        </p:spPr>
        <p:txBody>
          <a:bodyPr wrap="square" lIns="0" rIns="0" tIns="0" bIns="0" anchor="t">
            <a:spAutoFit/>
          </a:bodyPr>
          <a:lstStyle/>
          <a:p>
            <a:pPr algn="l">
              <a:lnSpc>
                <a:spcPct val="115000"/>
              </a:lnSpc>
            </a:pPr>
            <a:r>
              <a:rPr sz="1400" b="1">
                <a:solidFill>
                  <a:srgbClr val="003E6E"/>
                </a:solidFill>
                <a:latin typeface="Calibri"/>
              </a:rPr>
              <a:t>apl2.antraege</a:t>
            </a:r>
          </a:p>
        </p:txBody>
      </p:sp>
      <p:sp>
        <p:nvSpPr>
          <p:cNvPr id="11" name="TextBox 10"/>
          <p:cNvSpPr txBox="1"/>
          <p:nvPr/>
        </p:nvSpPr>
        <p:spPr>
          <a:xfrm>
            <a:off x="685800" y="2651760"/>
            <a:ext cx="3474720" cy="320040"/>
          </a:xfrm>
          <a:prstGeom prst="rect">
            <a:avLst/>
          </a:prstGeom>
          <a:noFill/>
        </p:spPr>
        <p:txBody>
          <a:bodyPr wrap="square" lIns="0" rIns="0" tIns="0" bIns="0" anchor="t">
            <a:spAutoFit/>
          </a:bodyPr>
          <a:lstStyle/>
          <a:p>
            <a:pPr algn="l">
              <a:lnSpc>
                <a:spcPct val="115000"/>
              </a:lnSpc>
            </a:pPr>
            <a:r>
              <a:rPr sz="1000" b="0">
                <a:solidFill>
                  <a:srgbClr val="7A7A7A"/>
                </a:solidFill>
                <a:latin typeface="Calibri"/>
              </a:rPr>
              <a:t>Hauptantrag (1 Datensatz pro Submit)</a:t>
            </a:r>
          </a:p>
        </p:txBody>
      </p:sp>
      <p:sp>
        <p:nvSpPr>
          <p:cNvPr id="12" name="TextBox 11"/>
          <p:cNvSpPr txBox="1"/>
          <p:nvPr/>
        </p:nvSpPr>
        <p:spPr>
          <a:xfrm>
            <a:off x="685800" y="3063240"/>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id</a:t>
            </a:r>
          </a:p>
        </p:txBody>
      </p:sp>
      <p:sp>
        <p:nvSpPr>
          <p:cNvPr id="13" name="TextBox 12"/>
          <p:cNvSpPr txBox="1"/>
          <p:nvPr/>
        </p:nvSpPr>
        <p:spPr>
          <a:xfrm>
            <a:off x="2834640" y="3063240"/>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uuid PK</a:t>
            </a:r>
          </a:p>
        </p:txBody>
      </p:sp>
      <p:sp>
        <p:nvSpPr>
          <p:cNvPr id="14" name="TextBox 13"/>
          <p:cNvSpPr txBox="1"/>
          <p:nvPr/>
        </p:nvSpPr>
        <p:spPr>
          <a:xfrm>
            <a:off x="685800" y="3337560"/>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antragsnummer</a:t>
            </a:r>
          </a:p>
        </p:txBody>
      </p:sp>
      <p:sp>
        <p:nvSpPr>
          <p:cNvPr id="15" name="TextBox 14"/>
          <p:cNvSpPr txBox="1"/>
          <p:nvPr/>
        </p:nvSpPr>
        <p:spPr>
          <a:xfrm>
            <a:off x="2834640" y="3337560"/>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text unique</a:t>
            </a:r>
          </a:p>
        </p:txBody>
      </p:sp>
      <p:sp>
        <p:nvSpPr>
          <p:cNvPr id="16" name="TextBox 15"/>
          <p:cNvSpPr txBox="1"/>
          <p:nvPr/>
        </p:nvSpPr>
        <p:spPr>
          <a:xfrm>
            <a:off x="685800" y="361187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haushaltsjahr</a:t>
            </a:r>
          </a:p>
        </p:txBody>
      </p:sp>
      <p:sp>
        <p:nvSpPr>
          <p:cNvPr id="17" name="TextBox 16"/>
          <p:cNvSpPr txBox="1"/>
          <p:nvPr/>
        </p:nvSpPr>
        <p:spPr>
          <a:xfrm>
            <a:off x="2834640" y="361187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int</a:t>
            </a:r>
          </a:p>
        </p:txBody>
      </p:sp>
      <p:sp>
        <p:nvSpPr>
          <p:cNvPr id="18" name="TextBox 17"/>
          <p:cNvSpPr txBox="1"/>
          <p:nvPr/>
        </p:nvSpPr>
        <p:spPr>
          <a:xfrm>
            <a:off x="685800" y="3886200"/>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name / traeger / anschrift</a:t>
            </a:r>
          </a:p>
        </p:txBody>
      </p:sp>
      <p:sp>
        <p:nvSpPr>
          <p:cNvPr id="19" name="TextBox 18"/>
          <p:cNvSpPr txBox="1"/>
          <p:nvPr/>
        </p:nvSpPr>
        <p:spPr>
          <a:xfrm>
            <a:off x="2834640" y="3886200"/>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text</a:t>
            </a:r>
          </a:p>
        </p:txBody>
      </p:sp>
      <p:sp>
        <p:nvSpPr>
          <p:cNvPr id="20" name="TextBox 19"/>
          <p:cNvSpPr txBox="1"/>
          <p:nvPr/>
        </p:nvSpPr>
        <p:spPr>
          <a:xfrm>
            <a:off x="685800" y="4160520"/>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iban / bic / bank</a:t>
            </a:r>
          </a:p>
        </p:txBody>
      </p:sp>
      <p:sp>
        <p:nvSpPr>
          <p:cNvPr id="21" name="TextBox 20"/>
          <p:cNvSpPr txBox="1"/>
          <p:nvPr/>
        </p:nvSpPr>
        <p:spPr>
          <a:xfrm>
            <a:off x="2834640" y="4160520"/>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text</a:t>
            </a:r>
          </a:p>
        </p:txBody>
      </p:sp>
      <p:sp>
        <p:nvSpPr>
          <p:cNvPr id="22" name="TextBox 21"/>
          <p:cNvSpPr txBox="1"/>
          <p:nvPr/>
        </p:nvSpPr>
        <p:spPr>
          <a:xfrm>
            <a:off x="685800" y="4434840"/>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ansprechpartner / tel / mail</a:t>
            </a:r>
          </a:p>
        </p:txBody>
      </p:sp>
      <p:sp>
        <p:nvSpPr>
          <p:cNvPr id="23" name="TextBox 22"/>
          <p:cNvSpPr txBox="1"/>
          <p:nvPr/>
        </p:nvSpPr>
        <p:spPr>
          <a:xfrm>
            <a:off x="2834640" y="4434840"/>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text</a:t>
            </a:r>
          </a:p>
        </p:txBody>
      </p:sp>
      <p:sp>
        <p:nvSpPr>
          <p:cNvPr id="24" name="TextBox 23"/>
          <p:cNvSpPr txBox="1"/>
          <p:nvPr/>
        </p:nvSpPr>
        <p:spPr>
          <a:xfrm>
            <a:off x="685800" y="470915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betriebskosten_vorjahr_euro</a:t>
            </a:r>
          </a:p>
        </p:txBody>
      </p:sp>
      <p:sp>
        <p:nvSpPr>
          <p:cNvPr id="25" name="TextBox 24"/>
          <p:cNvSpPr txBox="1"/>
          <p:nvPr/>
        </p:nvSpPr>
        <p:spPr>
          <a:xfrm>
            <a:off x="2834640" y="470915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numeric</a:t>
            </a:r>
          </a:p>
        </p:txBody>
      </p:sp>
      <p:sp>
        <p:nvSpPr>
          <p:cNvPr id="26" name="TextBox 25"/>
          <p:cNvSpPr txBox="1"/>
          <p:nvPr/>
        </p:nvSpPr>
        <p:spPr>
          <a:xfrm>
            <a:off x="685800" y="498347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personalkosten_vorjahr_euro</a:t>
            </a:r>
          </a:p>
        </p:txBody>
      </p:sp>
      <p:sp>
        <p:nvSpPr>
          <p:cNvPr id="27" name="TextBox 26"/>
          <p:cNvSpPr txBox="1"/>
          <p:nvPr/>
        </p:nvSpPr>
        <p:spPr>
          <a:xfrm>
            <a:off x="2834640" y="498347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numeric</a:t>
            </a:r>
          </a:p>
        </p:txBody>
      </p:sp>
      <p:sp>
        <p:nvSpPr>
          <p:cNvPr id="28" name="TextBox 27"/>
          <p:cNvSpPr txBox="1"/>
          <p:nvPr/>
        </p:nvSpPr>
        <p:spPr>
          <a:xfrm>
            <a:off x="685800" y="525779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raeume_vorhanden / unentgeltlich</a:t>
            </a:r>
          </a:p>
        </p:txBody>
      </p:sp>
      <p:sp>
        <p:nvSpPr>
          <p:cNvPr id="29" name="TextBox 28"/>
          <p:cNvSpPr txBox="1"/>
          <p:nvPr/>
        </p:nvSpPr>
        <p:spPr>
          <a:xfrm>
            <a:off x="2834640" y="525779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check</a:t>
            </a:r>
          </a:p>
        </p:txBody>
      </p:sp>
      <p:sp>
        <p:nvSpPr>
          <p:cNvPr id="30" name="TextBox 29"/>
          <p:cNvSpPr txBox="1"/>
          <p:nvPr/>
        </p:nvSpPr>
        <p:spPr>
          <a:xfrm>
            <a:off x="685800" y="553211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monatliche_miete_euro</a:t>
            </a:r>
          </a:p>
        </p:txBody>
      </p:sp>
      <p:sp>
        <p:nvSpPr>
          <p:cNvPr id="31" name="TextBox 30"/>
          <p:cNvSpPr txBox="1"/>
          <p:nvPr/>
        </p:nvSpPr>
        <p:spPr>
          <a:xfrm>
            <a:off x="2834640" y="553211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numeric</a:t>
            </a:r>
          </a:p>
        </p:txBody>
      </p:sp>
      <p:sp>
        <p:nvSpPr>
          <p:cNvPr id="32" name="TextBox 31"/>
          <p:cNvSpPr txBox="1"/>
          <p:nvPr/>
        </p:nvSpPr>
        <p:spPr>
          <a:xfrm>
            <a:off x="685800" y="580643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antragsdatum</a:t>
            </a:r>
          </a:p>
        </p:txBody>
      </p:sp>
      <p:sp>
        <p:nvSpPr>
          <p:cNvPr id="33" name="TextBox 32"/>
          <p:cNvSpPr txBox="1"/>
          <p:nvPr/>
        </p:nvSpPr>
        <p:spPr>
          <a:xfrm>
            <a:off x="2834640" y="580643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date</a:t>
            </a:r>
          </a:p>
        </p:txBody>
      </p:sp>
      <p:sp>
        <p:nvSpPr>
          <p:cNvPr id="34" name="TextBox 33"/>
          <p:cNvSpPr txBox="1"/>
          <p:nvPr/>
        </p:nvSpPr>
        <p:spPr>
          <a:xfrm>
            <a:off x="685800" y="608075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submitted_language</a:t>
            </a:r>
          </a:p>
        </p:txBody>
      </p:sp>
      <p:sp>
        <p:nvSpPr>
          <p:cNvPr id="35" name="TextBox 34"/>
          <p:cNvSpPr txBox="1"/>
          <p:nvPr/>
        </p:nvSpPr>
        <p:spPr>
          <a:xfrm>
            <a:off x="2834640" y="608075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check de/it/tr/es</a:t>
            </a:r>
          </a:p>
        </p:txBody>
      </p:sp>
      <p:sp>
        <p:nvSpPr>
          <p:cNvPr id="36" name="TextBox 35"/>
          <p:cNvSpPr txBox="1"/>
          <p:nvPr/>
        </p:nvSpPr>
        <p:spPr>
          <a:xfrm>
            <a:off x="685800" y="6355079"/>
            <a:ext cx="2103120" cy="256032"/>
          </a:xfrm>
          <a:prstGeom prst="rect">
            <a:avLst/>
          </a:prstGeom>
          <a:noFill/>
        </p:spPr>
        <p:txBody>
          <a:bodyPr wrap="square" lIns="0" rIns="0" tIns="0" bIns="0" anchor="t">
            <a:spAutoFit/>
          </a:bodyPr>
          <a:lstStyle/>
          <a:p>
            <a:pPr algn="l">
              <a:lnSpc>
                <a:spcPct val="115000"/>
              </a:lnSpc>
            </a:pPr>
            <a:r>
              <a:rPr sz="1000" b="0">
                <a:solidFill>
                  <a:srgbClr val="404040"/>
                </a:solidFill>
                <a:latin typeface="Calibri"/>
              </a:rPr>
              <a:t>•  status</a:t>
            </a:r>
          </a:p>
        </p:txBody>
      </p:sp>
      <p:sp>
        <p:nvSpPr>
          <p:cNvPr id="37" name="TextBox 36"/>
          <p:cNvSpPr txBox="1"/>
          <p:nvPr/>
        </p:nvSpPr>
        <p:spPr>
          <a:xfrm>
            <a:off x="2834640" y="6355079"/>
            <a:ext cx="1417320" cy="256032"/>
          </a:xfrm>
          <a:prstGeom prst="rect">
            <a:avLst/>
          </a:prstGeom>
          <a:noFill/>
        </p:spPr>
        <p:txBody>
          <a:bodyPr wrap="square" lIns="0" rIns="0" tIns="0" bIns="0" anchor="t">
            <a:spAutoFit/>
          </a:bodyPr>
          <a:lstStyle/>
          <a:p>
            <a:pPr algn="r">
              <a:lnSpc>
                <a:spcPct val="115000"/>
              </a:lnSpc>
            </a:pPr>
            <a:r>
              <a:rPr sz="950" b="0">
                <a:solidFill>
                  <a:srgbClr val="7A7A7A"/>
                </a:solidFill>
                <a:latin typeface="Calibri"/>
              </a:rPr>
              <a:t>text default 'eingegangen'</a:t>
            </a:r>
          </a:p>
        </p:txBody>
      </p:sp>
      <p:sp>
        <p:nvSpPr>
          <p:cNvPr id="38" name="Rectangle 37"/>
          <p:cNvSpPr/>
          <p:nvPr/>
        </p:nvSpPr>
        <p:spPr>
          <a:xfrm>
            <a:off x="4663440" y="2011680"/>
            <a:ext cx="3840480" cy="2103120"/>
          </a:xfrm>
          <a:prstGeom prst="rect">
            <a:avLst/>
          </a:prstGeom>
          <a:solidFill>
            <a:srgbClr val="FFFFFF"/>
          </a:solidFill>
          <a:ln w="635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63440" y="2011680"/>
            <a:ext cx="3840480" cy="9144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46320" y="2212848"/>
            <a:ext cx="3474720" cy="365760"/>
          </a:xfrm>
          <a:prstGeom prst="rect">
            <a:avLst/>
          </a:prstGeom>
          <a:noFill/>
        </p:spPr>
        <p:txBody>
          <a:bodyPr wrap="square" lIns="0" rIns="0" tIns="0" bIns="0" anchor="t">
            <a:spAutoFit/>
          </a:bodyPr>
          <a:lstStyle/>
          <a:p>
            <a:pPr algn="l">
              <a:lnSpc>
                <a:spcPct val="115000"/>
              </a:lnSpc>
            </a:pPr>
            <a:r>
              <a:rPr sz="1400" b="1">
                <a:solidFill>
                  <a:srgbClr val="003E6E"/>
                </a:solidFill>
                <a:latin typeface="Calibri"/>
              </a:rPr>
              <a:t>apl2.anlagen</a:t>
            </a:r>
          </a:p>
        </p:txBody>
      </p:sp>
      <p:sp>
        <p:nvSpPr>
          <p:cNvPr id="41" name="TextBox 40"/>
          <p:cNvSpPr txBox="1"/>
          <p:nvPr/>
        </p:nvSpPr>
        <p:spPr>
          <a:xfrm>
            <a:off x="4846320" y="2606040"/>
            <a:ext cx="3474720" cy="274320"/>
          </a:xfrm>
          <a:prstGeom prst="rect">
            <a:avLst/>
          </a:prstGeom>
          <a:noFill/>
        </p:spPr>
        <p:txBody>
          <a:bodyPr wrap="square" lIns="0" rIns="0" tIns="0" bIns="0" anchor="t">
            <a:spAutoFit/>
          </a:bodyPr>
          <a:lstStyle/>
          <a:p>
            <a:pPr algn="l">
              <a:lnSpc>
                <a:spcPct val="115000"/>
              </a:lnSpc>
            </a:pPr>
            <a:r>
              <a:rPr sz="1000" b="0">
                <a:solidFill>
                  <a:srgbClr val="7A7A7A"/>
                </a:solidFill>
                <a:latin typeface="Calibri"/>
              </a:rPr>
              <a:t>1:n zu antraege — typisierte Pflicht-/Optionalanlagen</a:t>
            </a:r>
          </a:p>
        </p:txBody>
      </p:sp>
      <p:sp>
        <p:nvSpPr>
          <p:cNvPr id="42" name="TextBox 41"/>
          <p:cNvSpPr txBox="1"/>
          <p:nvPr/>
        </p:nvSpPr>
        <p:spPr>
          <a:xfrm>
            <a:off x="4846320" y="2971800"/>
            <a:ext cx="1280160" cy="274320"/>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typ</a:t>
            </a:r>
          </a:p>
        </p:txBody>
      </p:sp>
      <p:sp>
        <p:nvSpPr>
          <p:cNvPr id="43" name="TextBox 42"/>
          <p:cNvSpPr txBox="1"/>
          <p:nvPr/>
        </p:nvSpPr>
        <p:spPr>
          <a:xfrm>
            <a:off x="6172200" y="2971800"/>
            <a:ext cx="2194560" cy="411480"/>
          </a:xfrm>
          <a:prstGeom prst="rect">
            <a:avLst/>
          </a:prstGeom>
          <a:noFill/>
        </p:spPr>
        <p:txBody>
          <a:bodyPr wrap="square" lIns="0" rIns="0" tIns="0" bIns="0" anchor="t">
            <a:spAutoFit/>
          </a:bodyPr>
          <a:lstStyle/>
          <a:p>
            <a:pPr algn="l">
              <a:lnSpc>
                <a:spcPct val="125000"/>
              </a:lnSpc>
            </a:pPr>
            <a:r>
              <a:rPr sz="950" b="0">
                <a:solidFill>
                  <a:srgbClr val="7A7A7A"/>
                </a:solidFill>
                <a:latin typeface="Calibri"/>
              </a:rPr>
              <a:t>mietvertrag · programm · kostennachweis · personalkostenbelege</a:t>
            </a:r>
          </a:p>
        </p:txBody>
      </p:sp>
      <p:sp>
        <p:nvSpPr>
          <p:cNvPr id="44" name="TextBox 43"/>
          <p:cNvSpPr txBox="1"/>
          <p:nvPr/>
        </p:nvSpPr>
        <p:spPr>
          <a:xfrm>
            <a:off x="4846320" y="3337560"/>
            <a:ext cx="1280160" cy="274320"/>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metadaten</a:t>
            </a:r>
          </a:p>
        </p:txBody>
      </p:sp>
      <p:sp>
        <p:nvSpPr>
          <p:cNvPr id="45" name="TextBox 44"/>
          <p:cNvSpPr txBox="1"/>
          <p:nvPr/>
        </p:nvSpPr>
        <p:spPr>
          <a:xfrm>
            <a:off x="6172200" y="3337560"/>
            <a:ext cx="2194560" cy="411480"/>
          </a:xfrm>
          <a:prstGeom prst="rect">
            <a:avLst/>
          </a:prstGeom>
          <a:noFill/>
        </p:spPr>
        <p:txBody>
          <a:bodyPr wrap="square" lIns="0" rIns="0" tIns="0" bIns="0" anchor="t">
            <a:spAutoFit/>
          </a:bodyPr>
          <a:lstStyle/>
          <a:p>
            <a:pPr algn="l">
              <a:lnSpc>
                <a:spcPct val="125000"/>
              </a:lnSpc>
            </a:pPr>
            <a:r>
              <a:rPr sz="950" b="0">
                <a:solidFill>
                  <a:srgbClr val="7A7A7A"/>
                </a:solidFill>
                <a:latin typeface="Calibri"/>
              </a:rPr>
              <a:t>dateiname · groesse_bytes · mime_type</a:t>
            </a:r>
          </a:p>
        </p:txBody>
      </p:sp>
      <p:sp>
        <p:nvSpPr>
          <p:cNvPr id="46" name="TextBox 45"/>
          <p:cNvSpPr txBox="1"/>
          <p:nvPr/>
        </p:nvSpPr>
        <p:spPr>
          <a:xfrm>
            <a:off x="4846320" y="3703320"/>
            <a:ext cx="1280160" cy="274320"/>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storage_path</a:t>
            </a:r>
          </a:p>
        </p:txBody>
      </p:sp>
      <p:sp>
        <p:nvSpPr>
          <p:cNvPr id="47" name="TextBox 46"/>
          <p:cNvSpPr txBox="1"/>
          <p:nvPr/>
        </p:nvSpPr>
        <p:spPr>
          <a:xfrm>
            <a:off x="6172200" y="3703320"/>
            <a:ext cx="2194560" cy="411480"/>
          </a:xfrm>
          <a:prstGeom prst="rect">
            <a:avLst/>
          </a:prstGeom>
          <a:noFill/>
        </p:spPr>
        <p:txBody>
          <a:bodyPr wrap="square" lIns="0" rIns="0" tIns="0" bIns="0" anchor="t">
            <a:spAutoFit/>
          </a:bodyPr>
          <a:lstStyle/>
          <a:p>
            <a:pPr algn="l">
              <a:lnSpc>
                <a:spcPct val="125000"/>
              </a:lnSpc>
            </a:pPr>
            <a:r>
              <a:rPr sz="950" b="0">
                <a:solidFill>
                  <a:srgbClr val="7A7A7A"/>
                </a:solidFill>
                <a:latin typeface="Calibri"/>
              </a:rPr>
              <a:t>Verweis auf Bucket-Objekt</a:t>
            </a:r>
          </a:p>
        </p:txBody>
      </p:sp>
      <p:sp>
        <p:nvSpPr>
          <p:cNvPr id="48" name="Rectangle 47"/>
          <p:cNvSpPr/>
          <p:nvPr/>
        </p:nvSpPr>
        <p:spPr>
          <a:xfrm>
            <a:off x="4663440" y="4297680"/>
            <a:ext cx="3840480" cy="2468880"/>
          </a:xfrm>
          <a:prstGeom prst="rect">
            <a:avLst/>
          </a:prstGeom>
          <a:solidFill>
            <a:srgbClr val="FFFFFF"/>
          </a:solidFill>
          <a:ln w="635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663440" y="4297680"/>
            <a:ext cx="3840480" cy="91440"/>
          </a:xfrm>
          <a:prstGeom prst="rect">
            <a:avLst/>
          </a:prstGeom>
          <a:solidFill>
            <a:srgbClr val="4AB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46320" y="4498848"/>
            <a:ext cx="3474720" cy="365760"/>
          </a:xfrm>
          <a:prstGeom prst="rect">
            <a:avLst/>
          </a:prstGeom>
          <a:noFill/>
        </p:spPr>
        <p:txBody>
          <a:bodyPr wrap="square" lIns="0" rIns="0" tIns="0" bIns="0" anchor="t">
            <a:spAutoFit/>
          </a:bodyPr>
          <a:lstStyle/>
          <a:p>
            <a:pPr algn="l">
              <a:lnSpc>
                <a:spcPct val="115000"/>
              </a:lnSpc>
            </a:pPr>
            <a:r>
              <a:rPr sz="1400" b="1">
                <a:solidFill>
                  <a:srgbClr val="003E6E"/>
                </a:solidFill>
                <a:latin typeface="Calibri"/>
              </a:rPr>
              <a:t>apl2.form_translations</a:t>
            </a:r>
          </a:p>
        </p:txBody>
      </p:sp>
      <p:sp>
        <p:nvSpPr>
          <p:cNvPr id="51" name="TextBox 50"/>
          <p:cNvSpPr txBox="1"/>
          <p:nvPr/>
        </p:nvSpPr>
        <p:spPr>
          <a:xfrm>
            <a:off x="4846320" y="4892040"/>
            <a:ext cx="3474720" cy="274320"/>
          </a:xfrm>
          <a:prstGeom prst="rect">
            <a:avLst/>
          </a:prstGeom>
          <a:noFill/>
        </p:spPr>
        <p:txBody>
          <a:bodyPr wrap="square" lIns="0" rIns="0" tIns="0" bIns="0" anchor="t">
            <a:spAutoFit/>
          </a:bodyPr>
          <a:lstStyle/>
          <a:p>
            <a:pPr algn="l">
              <a:lnSpc>
                <a:spcPct val="115000"/>
              </a:lnSpc>
            </a:pPr>
            <a:r>
              <a:rPr sz="1000" b="0">
                <a:solidFill>
                  <a:srgbClr val="7A7A7A"/>
                </a:solidFill>
                <a:latin typeface="Calibri"/>
              </a:rPr>
              <a:t>Übersetzungen pro Key × Sprache</a:t>
            </a:r>
          </a:p>
        </p:txBody>
      </p:sp>
      <p:sp>
        <p:nvSpPr>
          <p:cNvPr id="52" name="TextBox 51"/>
          <p:cNvSpPr txBox="1"/>
          <p:nvPr/>
        </p:nvSpPr>
        <p:spPr>
          <a:xfrm>
            <a:off x="4846320" y="5257800"/>
            <a:ext cx="169164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key</a:t>
            </a:r>
          </a:p>
        </p:txBody>
      </p:sp>
      <p:sp>
        <p:nvSpPr>
          <p:cNvPr id="53" name="TextBox 52"/>
          <p:cNvSpPr txBox="1"/>
          <p:nvPr/>
        </p:nvSpPr>
        <p:spPr>
          <a:xfrm>
            <a:off x="6583680" y="5257800"/>
            <a:ext cx="1783080" cy="256032"/>
          </a:xfrm>
          <a:prstGeom prst="rect">
            <a:avLst/>
          </a:prstGeom>
          <a:noFill/>
        </p:spPr>
        <p:txBody>
          <a:bodyPr wrap="square" lIns="0" rIns="0" tIns="0" bIns="0" anchor="t">
            <a:spAutoFit/>
          </a:bodyPr>
          <a:lstStyle/>
          <a:p>
            <a:pPr algn="l">
              <a:lnSpc>
                <a:spcPct val="115000"/>
              </a:lnSpc>
            </a:pPr>
            <a:r>
              <a:rPr sz="950" b="0">
                <a:solidFill>
                  <a:srgbClr val="7A7A7A"/>
                </a:solidFill>
                <a:latin typeface="Calibri"/>
              </a:rPr>
              <a:t>z. B. form.label.iban</a:t>
            </a:r>
          </a:p>
        </p:txBody>
      </p:sp>
      <p:sp>
        <p:nvSpPr>
          <p:cNvPr id="54" name="TextBox 53"/>
          <p:cNvSpPr txBox="1"/>
          <p:nvPr/>
        </p:nvSpPr>
        <p:spPr>
          <a:xfrm>
            <a:off x="4846320" y="5586984"/>
            <a:ext cx="169164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language</a:t>
            </a:r>
          </a:p>
        </p:txBody>
      </p:sp>
      <p:sp>
        <p:nvSpPr>
          <p:cNvPr id="55" name="TextBox 54"/>
          <p:cNvSpPr txBox="1"/>
          <p:nvPr/>
        </p:nvSpPr>
        <p:spPr>
          <a:xfrm>
            <a:off x="6583680" y="5586984"/>
            <a:ext cx="1783080" cy="256032"/>
          </a:xfrm>
          <a:prstGeom prst="rect">
            <a:avLst/>
          </a:prstGeom>
          <a:noFill/>
        </p:spPr>
        <p:txBody>
          <a:bodyPr wrap="square" lIns="0" rIns="0" tIns="0" bIns="0" anchor="t">
            <a:spAutoFit/>
          </a:bodyPr>
          <a:lstStyle/>
          <a:p>
            <a:pPr algn="l">
              <a:lnSpc>
                <a:spcPct val="115000"/>
              </a:lnSpc>
            </a:pPr>
            <a:r>
              <a:rPr sz="950" b="0">
                <a:solidFill>
                  <a:srgbClr val="7A7A7A"/>
                </a:solidFill>
                <a:latin typeface="Calibri"/>
              </a:rPr>
              <a:t>de · it · tr · es (check)</a:t>
            </a:r>
          </a:p>
        </p:txBody>
      </p:sp>
      <p:sp>
        <p:nvSpPr>
          <p:cNvPr id="56" name="TextBox 55"/>
          <p:cNvSpPr txBox="1"/>
          <p:nvPr/>
        </p:nvSpPr>
        <p:spPr>
          <a:xfrm>
            <a:off x="4846320" y="5916168"/>
            <a:ext cx="169164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value</a:t>
            </a:r>
          </a:p>
        </p:txBody>
      </p:sp>
      <p:sp>
        <p:nvSpPr>
          <p:cNvPr id="57" name="TextBox 56"/>
          <p:cNvSpPr txBox="1"/>
          <p:nvPr/>
        </p:nvSpPr>
        <p:spPr>
          <a:xfrm>
            <a:off x="6583680" y="5916168"/>
            <a:ext cx="1783080" cy="256032"/>
          </a:xfrm>
          <a:prstGeom prst="rect">
            <a:avLst/>
          </a:prstGeom>
          <a:noFill/>
        </p:spPr>
        <p:txBody>
          <a:bodyPr wrap="square" lIns="0" rIns="0" tIns="0" bIns="0" anchor="t">
            <a:spAutoFit/>
          </a:bodyPr>
          <a:lstStyle/>
          <a:p>
            <a:pPr algn="l">
              <a:lnSpc>
                <a:spcPct val="115000"/>
              </a:lnSpc>
            </a:pPr>
            <a:r>
              <a:rPr sz="950" b="0">
                <a:solidFill>
                  <a:srgbClr val="7A7A7A"/>
                </a:solidFill>
                <a:latin typeface="Calibri"/>
              </a:rPr>
              <a:t>übersetzter Text</a:t>
            </a:r>
          </a:p>
        </p:txBody>
      </p:sp>
      <p:sp>
        <p:nvSpPr>
          <p:cNvPr id="58" name="TextBox 57"/>
          <p:cNvSpPr txBox="1"/>
          <p:nvPr/>
        </p:nvSpPr>
        <p:spPr>
          <a:xfrm>
            <a:off x="4846320" y="6245352"/>
            <a:ext cx="169164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anon SELECT erlaubt</a:t>
            </a:r>
          </a:p>
        </p:txBody>
      </p:sp>
      <p:sp>
        <p:nvSpPr>
          <p:cNvPr id="59" name="TextBox 58"/>
          <p:cNvSpPr txBox="1"/>
          <p:nvPr/>
        </p:nvSpPr>
        <p:spPr>
          <a:xfrm>
            <a:off x="6583680" y="6245352"/>
            <a:ext cx="1783080" cy="256032"/>
          </a:xfrm>
          <a:prstGeom prst="rect">
            <a:avLst/>
          </a:prstGeom>
          <a:noFill/>
        </p:spPr>
        <p:txBody>
          <a:bodyPr wrap="square" lIns="0" rIns="0" tIns="0" bIns="0" anchor="t">
            <a:spAutoFit/>
          </a:bodyPr>
          <a:lstStyle/>
          <a:p>
            <a:pPr algn="l">
              <a:lnSpc>
                <a:spcPct val="115000"/>
              </a:lnSpc>
            </a:pPr>
            <a:r>
              <a:rPr sz="950" b="0">
                <a:solidFill>
                  <a:srgbClr val="7A7A7A"/>
                </a:solidFill>
                <a:latin typeface="Calibri"/>
              </a:rPr>
              <a:t>für Live-Reload, RLS-Policy</a:t>
            </a:r>
          </a:p>
        </p:txBody>
      </p:sp>
      <p:sp>
        <p:nvSpPr>
          <p:cNvPr id="60" name="Rectangle 59"/>
          <p:cNvSpPr/>
          <p:nvPr/>
        </p:nvSpPr>
        <p:spPr>
          <a:xfrm>
            <a:off x="8732520" y="2011680"/>
            <a:ext cx="3840480" cy="4754880"/>
          </a:xfrm>
          <a:prstGeom prst="rect">
            <a:avLst/>
          </a:prstGeom>
          <a:solidFill>
            <a:srgbClr val="FFFFFF"/>
          </a:solidFill>
          <a:ln w="6350">
            <a:solidFill>
              <a:srgbClr val="003E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732520" y="2011680"/>
            <a:ext cx="3840480" cy="9144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915400" y="2240280"/>
            <a:ext cx="3474720" cy="365760"/>
          </a:xfrm>
          <a:prstGeom prst="rect">
            <a:avLst/>
          </a:prstGeom>
          <a:noFill/>
        </p:spPr>
        <p:txBody>
          <a:bodyPr wrap="square" lIns="0" rIns="0" tIns="0" bIns="0" anchor="t">
            <a:spAutoFit/>
          </a:bodyPr>
          <a:lstStyle/>
          <a:p>
            <a:pPr algn="l">
              <a:lnSpc>
                <a:spcPct val="115000"/>
              </a:lnSpc>
            </a:pPr>
            <a:r>
              <a:rPr sz="1400" b="1">
                <a:solidFill>
                  <a:srgbClr val="003E6E"/>
                </a:solidFill>
                <a:latin typeface="Calibri"/>
              </a:rPr>
              <a:t>Storage-Bucket antragsbelege</a:t>
            </a:r>
          </a:p>
        </p:txBody>
      </p:sp>
      <p:sp>
        <p:nvSpPr>
          <p:cNvPr id="63" name="TextBox 62"/>
          <p:cNvSpPr txBox="1"/>
          <p:nvPr/>
        </p:nvSpPr>
        <p:spPr>
          <a:xfrm>
            <a:off x="8915400" y="2651760"/>
            <a:ext cx="3474720" cy="274320"/>
          </a:xfrm>
          <a:prstGeom prst="rect">
            <a:avLst/>
          </a:prstGeom>
          <a:noFill/>
        </p:spPr>
        <p:txBody>
          <a:bodyPr wrap="square" lIns="0" rIns="0" tIns="0" bIns="0" anchor="t">
            <a:spAutoFit/>
          </a:bodyPr>
          <a:lstStyle/>
          <a:p>
            <a:pPr algn="l">
              <a:lnSpc>
                <a:spcPct val="115000"/>
              </a:lnSpc>
            </a:pPr>
            <a:r>
              <a:rPr sz="1000" b="0">
                <a:solidFill>
                  <a:srgbClr val="7A7A7A"/>
                </a:solidFill>
                <a:latin typeface="Calibri"/>
              </a:rPr>
              <a:t>Privater Bucket, Service-Role-only</a:t>
            </a:r>
          </a:p>
        </p:txBody>
      </p:sp>
      <p:sp>
        <p:nvSpPr>
          <p:cNvPr id="64" name="TextBox 63"/>
          <p:cNvSpPr txBox="1"/>
          <p:nvPr/>
        </p:nvSpPr>
        <p:spPr>
          <a:xfrm>
            <a:off x="8915400" y="306324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Sichtbarkeit</a:t>
            </a:r>
          </a:p>
        </p:txBody>
      </p:sp>
      <p:sp>
        <p:nvSpPr>
          <p:cNvPr id="65" name="TextBox 64"/>
          <p:cNvSpPr txBox="1"/>
          <p:nvPr/>
        </p:nvSpPr>
        <p:spPr>
          <a:xfrm>
            <a:off x="8915400" y="331927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public = false (privat)</a:t>
            </a:r>
          </a:p>
        </p:txBody>
      </p:sp>
      <p:sp>
        <p:nvSpPr>
          <p:cNvPr id="66" name="TextBox 65"/>
          <p:cNvSpPr txBox="1"/>
          <p:nvPr/>
        </p:nvSpPr>
        <p:spPr>
          <a:xfrm>
            <a:off x="8915400" y="370332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MIME-Whitelist</a:t>
            </a:r>
          </a:p>
        </p:txBody>
      </p:sp>
      <p:sp>
        <p:nvSpPr>
          <p:cNvPr id="67" name="TextBox 66"/>
          <p:cNvSpPr txBox="1"/>
          <p:nvPr/>
        </p:nvSpPr>
        <p:spPr>
          <a:xfrm>
            <a:off x="8915400" y="395935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application/pdf · image/jpeg · image/png</a:t>
            </a:r>
          </a:p>
        </p:txBody>
      </p:sp>
      <p:sp>
        <p:nvSpPr>
          <p:cNvPr id="68" name="TextBox 67"/>
          <p:cNvSpPr txBox="1"/>
          <p:nvPr/>
        </p:nvSpPr>
        <p:spPr>
          <a:xfrm>
            <a:off x="8915400" y="434340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Max-Größe</a:t>
            </a:r>
          </a:p>
        </p:txBody>
      </p:sp>
      <p:sp>
        <p:nvSpPr>
          <p:cNvPr id="69" name="TextBox 68"/>
          <p:cNvSpPr txBox="1"/>
          <p:nvPr/>
        </p:nvSpPr>
        <p:spPr>
          <a:xfrm>
            <a:off x="8915400" y="459943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10 MB pro Datei (durchgehend client → server)</a:t>
            </a:r>
          </a:p>
        </p:txBody>
      </p:sp>
      <p:sp>
        <p:nvSpPr>
          <p:cNvPr id="70" name="TextBox 69"/>
          <p:cNvSpPr txBox="1"/>
          <p:nvPr/>
        </p:nvSpPr>
        <p:spPr>
          <a:xfrm>
            <a:off x="8915400" y="498348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Zugriff</a:t>
            </a:r>
          </a:p>
        </p:txBody>
      </p:sp>
      <p:sp>
        <p:nvSpPr>
          <p:cNvPr id="71" name="TextBox 70"/>
          <p:cNvSpPr txBox="1"/>
          <p:nvPr/>
        </p:nvSpPr>
        <p:spPr>
          <a:xfrm>
            <a:off x="8915400" y="523951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Signed URLs für Sachbearbeitung in UE2</a:t>
            </a:r>
          </a:p>
        </p:txBody>
      </p:sp>
      <p:sp>
        <p:nvSpPr>
          <p:cNvPr id="72" name="TextBox 71"/>
          <p:cNvSpPr txBox="1"/>
          <p:nvPr/>
        </p:nvSpPr>
        <p:spPr>
          <a:xfrm>
            <a:off x="8915400" y="562356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Bindung</a:t>
            </a:r>
          </a:p>
        </p:txBody>
      </p:sp>
      <p:sp>
        <p:nvSpPr>
          <p:cNvPr id="73" name="TextBox 72"/>
          <p:cNvSpPr txBox="1"/>
          <p:nvPr/>
        </p:nvSpPr>
        <p:spPr>
          <a:xfrm>
            <a:off x="8915400" y="587959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storage_path in apl2.anlagen verweist auf Objekt</a:t>
            </a:r>
          </a:p>
        </p:txBody>
      </p:sp>
      <p:sp>
        <p:nvSpPr>
          <p:cNvPr id="74" name="TextBox 73"/>
          <p:cNvSpPr txBox="1"/>
          <p:nvPr/>
        </p:nvSpPr>
        <p:spPr>
          <a:xfrm>
            <a:off x="8915400" y="6263640"/>
            <a:ext cx="3474720" cy="256032"/>
          </a:xfrm>
          <a:prstGeom prst="rect">
            <a:avLst/>
          </a:prstGeom>
          <a:noFill/>
        </p:spPr>
        <p:txBody>
          <a:bodyPr wrap="square" lIns="0" rIns="0" tIns="0" bIns="0" anchor="t">
            <a:spAutoFit/>
          </a:bodyPr>
          <a:lstStyle/>
          <a:p>
            <a:pPr algn="l">
              <a:lnSpc>
                <a:spcPct val="115000"/>
              </a:lnSpc>
            </a:pPr>
            <a:r>
              <a:rPr sz="1000" b="1">
                <a:solidFill>
                  <a:srgbClr val="404040"/>
                </a:solidFill>
                <a:latin typeface="Calibri"/>
              </a:rPr>
              <a:t>•  Sicherheit</a:t>
            </a:r>
          </a:p>
        </p:txBody>
      </p:sp>
      <p:sp>
        <p:nvSpPr>
          <p:cNvPr id="75" name="TextBox 74"/>
          <p:cNvSpPr txBox="1"/>
          <p:nvPr/>
        </p:nvSpPr>
        <p:spPr>
          <a:xfrm>
            <a:off x="8915400" y="6519672"/>
            <a:ext cx="3474720" cy="411480"/>
          </a:xfrm>
          <a:prstGeom prst="rect">
            <a:avLst/>
          </a:prstGeom>
          <a:noFill/>
        </p:spPr>
        <p:txBody>
          <a:bodyPr wrap="square" lIns="0" rIns="0" tIns="0" bIns="0" anchor="t">
            <a:spAutoFit/>
          </a:bodyPr>
          <a:lstStyle/>
          <a:p>
            <a:pPr algn="l">
              <a:lnSpc>
                <a:spcPct val="130000"/>
              </a:lnSpc>
            </a:pPr>
            <a:r>
              <a:rPr sz="950" b="0">
                <a:solidFill>
                  <a:srgbClr val="7A7A7A"/>
                </a:solidFill>
                <a:latin typeface="Calibri"/>
              </a:rPr>
              <a:t>RLS: default-deny für anon; service_role nur intern in Edge Function</a:t>
            </a:r>
          </a:p>
        </p:txBody>
      </p:sp>
      <p:cxnSp>
        <p:nvCxnSpPr>
          <p:cNvPr id="76" name="Connector 75"/>
          <p:cNvCxnSpPr/>
          <p:nvPr/>
        </p:nvCxnSpPr>
        <p:spPr>
          <a:xfrm>
            <a:off x="4343400" y="3017520"/>
            <a:ext cx="320040" cy="0"/>
          </a:xfrm>
          <a:prstGeom prst="bentConnector3">
            <a:avLst/>
          </a:prstGeom>
          <a:ln w="15240">
            <a:solidFill>
              <a:srgbClr val="8AB83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583680" y="4206240"/>
            <a:ext cx="0" cy="182880"/>
          </a:xfrm>
          <a:prstGeom prst="bentConnector3">
            <a:avLst/>
          </a:prstGeom>
          <a:ln w="15240">
            <a:solidFill>
              <a:srgbClr val="4AB5C4"/>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503920" y="3017520"/>
            <a:ext cx="228600" cy="0"/>
          </a:xfrm>
          <a:prstGeom prst="bentConnector3">
            <a:avLst/>
          </a:prstGeom>
          <a:ln w="15240">
            <a:solidFill>
              <a:srgbClr val="FF6A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Sicherheit, Datenschutz und CI: drei Themenfelder, die für den Produktivbetrieb geklärt sein müssen</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Quellen: DSGVO Art. 5/24/32; Schrems II-Urteil EuGH C-311/18; BayLfD-Handreichung Google Fonts (2023); Stadt Würzburg Corporate Identity-Leitfaden.</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QUERSCHNITT  ·  SICHERHEIT · DATENSCHUTZ · CI</a:t>
            </a:r>
          </a:p>
        </p:txBody>
      </p:sp>
      <p:sp>
        <p:nvSpPr>
          <p:cNvPr id="8" name="Rectangle 7"/>
          <p:cNvSpPr/>
          <p:nvPr/>
        </p:nvSpPr>
        <p:spPr>
          <a:xfrm>
            <a:off x="502920" y="2011680"/>
            <a:ext cx="3931920" cy="466344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3931920" cy="9144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40280"/>
            <a:ext cx="3474720" cy="365760"/>
          </a:xfrm>
          <a:prstGeom prst="rect">
            <a:avLst/>
          </a:prstGeom>
          <a:noFill/>
        </p:spPr>
        <p:txBody>
          <a:bodyPr wrap="square" lIns="0" rIns="0" tIns="0" bIns="0" anchor="t">
            <a:spAutoFit/>
          </a:bodyPr>
          <a:lstStyle/>
          <a:p>
            <a:pPr algn="l">
              <a:lnSpc>
                <a:spcPct val="115000"/>
              </a:lnSpc>
            </a:pPr>
            <a:r>
              <a:rPr sz="1400" b="1">
                <a:solidFill>
                  <a:srgbClr val="003E6E"/>
                </a:solidFill>
                <a:latin typeface="Calibri"/>
              </a:rPr>
              <a:t>Sicherheit (Edge &amp; DB)</a:t>
            </a:r>
          </a:p>
        </p:txBody>
      </p:sp>
      <p:sp>
        <p:nvSpPr>
          <p:cNvPr id="11" name="TextBox 10"/>
          <p:cNvSpPr txBox="1"/>
          <p:nvPr/>
        </p:nvSpPr>
        <p:spPr>
          <a:xfrm>
            <a:off x="777240" y="278892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Service-Role-Key</a:t>
            </a:r>
          </a:p>
        </p:txBody>
      </p:sp>
      <p:sp>
        <p:nvSpPr>
          <p:cNvPr id="12" name="TextBox 11"/>
          <p:cNvSpPr txBox="1"/>
          <p:nvPr/>
        </p:nvSpPr>
        <p:spPr>
          <a:xfrm>
            <a:off x="777240" y="306324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ausschließlich serverseitig in der Edge Function</a:t>
            </a:r>
          </a:p>
        </p:txBody>
      </p:sp>
      <p:sp>
        <p:nvSpPr>
          <p:cNvPr id="13" name="TextBox 12"/>
          <p:cNvSpPr txBox="1"/>
          <p:nvPr/>
        </p:nvSpPr>
        <p:spPr>
          <a:xfrm>
            <a:off x="777240" y="374904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RLS aktiv</a:t>
            </a:r>
          </a:p>
        </p:txBody>
      </p:sp>
      <p:sp>
        <p:nvSpPr>
          <p:cNvPr id="14" name="TextBox 13"/>
          <p:cNvSpPr txBox="1"/>
          <p:nvPr/>
        </p:nvSpPr>
        <p:spPr>
          <a:xfrm>
            <a:off x="777240" y="402336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anon hat keinen Lese-/Schreibzugriff auf antraege/anlagen</a:t>
            </a:r>
          </a:p>
        </p:txBody>
      </p:sp>
      <p:sp>
        <p:nvSpPr>
          <p:cNvPr id="15" name="TextBox 14"/>
          <p:cNvSpPr txBox="1"/>
          <p:nvPr/>
        </p:nvSpPr>
        <p:spPr>
          <a:xfrm>
            <a:off x="777240" y="470916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CORS-Allowlist</a:t>
            </a:r>
          </a:p>
        </p:txBody>
      </p:sp>
      <p:sp>
        <p:nvSpPr>
          <p:cNvPr id="16" name="TextBox 15"/>
          <p:cNvSpPr txBox="1"/>
          <p:nvPr/>
        </p:nvSpPr>
        <p:spPr>
          <a:xfrm>
            <a:off x="777240" y="498348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nur GitHub-Pages-Demo und localhost</a:t>
            </a:r>
          </a:p>
        </p:txBody>
      </p:sp>
      <p:sp>
        <p:nvSpPr>
          <p:cNvPr id="17" name="TextBox 16"/>
          <p:cNvSpPr txBox="1"/>
          <p:nvPr/>
        </p:nvSpPr>
        <p:spPr>
          <a:xfrm>
            <a:off x="777240" y="566928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Rollback</a:t>
            </a:r>
          </a:p>
        </p:txBody>
      </p:sp>
      <p:sp>
        <p:nvSpPr>
          <p:cNvPr id="18" name="TextBox 17"/>
          <p:cNvSpPr txBox="1"/>
          <p:nvPr/>
        </p:nvSpPr>
        <p:spPr>
          <a:xfrm>
            <a:off x="777240" y="594360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Antrag wird gelöscht, wenn auch nur eine Anlage scheitert</a:t>
            </a:r>
          </a:p>
        </p:txBody>
      </p:sp>
      <p:sp>
        <p:nvSpPr>
          <p:cNvPr id="19" name="Rectangle 18"/>
          <p:cNvSpPr/>
          <p:nvPr/>
        </p:nvSpPr>
        <p:spPr>
          <a:xfrm>
            <a:off x="4617720" y="2011680"/>
            <a:ext cx="3931920" cy="466344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17720" y="2011680"/>
            <a:ext cx="3931920"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92040" y="2240280"/>
            <a:ext cx="3474720" cy="365760"/>
          </a:xfrm>
          <a:prstGeom prst="rect">
            <a:avLst/>
          </a:prstGeom>
          <a:noFill/>
        </p:spPr>
        <p:txBody>
          <a:bodyPr wrap="square" lIns="0" rIns="0" tIns="0" bIns="0" anchor="t">
            <a:spAutoFit/>
          </a:bodyPr>
          <a:lstStyle/>
          <a:p>
            <a:pPr algn="l">
              <a:lnSpc>
                <a:spcPct val="115000"/>
              </a:lnSpc>
            </a:pPr>
            <a:r>
              <a:rPr sz="1400" b="1">
                <a:solidFill>
                  <a:srgbClr val="BE2344"/>
                </a:solidFill>
                <a:latin typeface="Calibri"/>
              </a:rPr>
              <a:t>Datenschutz (DSGVO)</a:t>
            </a:r>
          </a:p>
        </p:txBody>
      </p:sp>
      <p:sp>
        <p:nvSpPr>
          <p:cNvPr id="22" name="TextBox 21"/>
          <p:cNvSpPr txBox="1"/>
          <p:nvPr/>
        </p:nvSpPr>
        <p:spPr>
          <a:xfrm>
            <a:off x="4892040" y="278892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Datensparsamkeit</a:t>
            </a:r>
          </a:p>
        </p:txBody>
      </p:sp>
      <p:sp>
        <p:nvSpPr>
          <p:cNvPr id="23" name="TextBox 22"/>
          <p:cNvSpPr txBox="1"/>
          <p:nvPr/>
        </p:nvSpPr>
        <p:spPr>
          <a:xfrm>
            <a:off x="4892040" y="306324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nur Felder, die die Förderrichtlinie verlangt</a:t>
            </a:r>
          </a:p>
        </p:txBody>
      </p:sp>
      <p:sp>
        <p:nvSpPr>
          <p:cNvPr id="24" name="TextBox 23"/>
          <p:cNvSpPr txBox="1"/>
          <p:nvPr/>
        </p:nvSpPr>
        <p:spPr>
          <a:xfrm>
            <a:off x="4892040" y="374904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Speicherbegrenzung</a:t>
            </a:r>
          </a:p>
        </p:txBody>
      </p:sp>
      <p:sp>
        <p:nvSpPr>
          <p:cNvPr id="25" name="TextBox 24"/>
          <p:cNvSpPr txBox="1"/>
          <p:nvPr/>
        </p:nvSpPr>
        <p:spPr>
          <a:xfrm>
            <a:off x="4892040" y="402336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Antragsdatensätze inkl. Anlagen mit Löschfrist (UE2)</a:t>
            </a:r>
          </a:p>
        </p:txBody>
      </p:sp>
      <p:sp>
        <p:nvSpPr>
          <p:cNvPr id="26" name="TextBox 25"/>
          <p:cNvSpPr txBox="1"/>
          <p:nvPr/>
        </p:nvSpPr>
        <p:spPr>
          <a:xfrm>
            <a:off x="4892040" y="470916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Schrems II</a:t>
            </a:r>
          </a:p>
        </p:txBody>
      </p:sp>
      <p:sp>
        <p:nvSpPr>
          <p:cNvPr id="27" name="TextBox 26"/>
          <p:cNvSpPr txBox="1"/>
          <p:nvPr/>
        </p:nvSpPr>
        <p:spPr>
          <a:xfrm>
            <a:off x="4892040" y="498348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Google Fonts in der Demo → Produktiv: self-hosted Open Sans</a:t>
            </a:r>
          </a:p>
        </p:txBody>
      </p:sp>
      <p:sp>
        <p:nvSpPr>
          <p:cNvPr id="28" name="TextBox 27"/>
          <p:cNvSpPr txBox="1"/>
          <p:nvPr/>
        </p:nvSpPr>
        <p:spPr>
          <a:xfrm>
            <a:off x="4892040" y="566928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Transparenz</a:t>
            </a:r>
          </a:p>
        </p:txBody>
      </p:sp>
      <p:sp>
        <p:nvSpPr>
          <p:cNvPr id="29" name="TextBox 28"/>
          <p:cNvSpPr txBox="1"/>
          <p:nvPr/>
        </p:nvSpPr>
        <p:spPr>
          <a:xfrm>
            <a:off x="4892040" y="594360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Hinweis im Demo-Banner; in Produktion Datenschutzerklärung</a:t>
            </a:r>
          </a:p>
        </p:txBody>
      </p:sp>
      <p:sp>
        <p:nvSpPr>
          <p:cNvPr id="30" name="Rectangle 29"/>
          <p:cNvSpPr/>
          <p:nvPr/>
        </p:nvSpPr>
        <p:spPr>
          <a:xfrm>
            <a:off x="8732520" y="2011680"/>
            <a:ext cx="3931920" cy="466344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732520" y="2011680"/>
            <a:ext cx="3931920" cy="9144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6840" y="2240280"/>
            <a:ext cx="3474720" cy="365760"/>
          </a:xfrm>
          <a:prstGeom prst="rect">
            <a:avLst/>
          </a:prstGeom>
          <a:noFill/>
        </p:spPr>
        <p:txBody>
          <a:bodyPr wrap="square" lIns="0" rIns="0" tIns="0" bIns="0" anchor="t">
            <a:spAutoFit/>
          </a:bodyPr>
          <a:lstStyle/>
          <a:p>
            <a:pPr algn="l">
              <a:lnSpc>
                <a:spcPct val="115000"/>
              </a:lnSpc>
            </a:pPr>
            <a:r>
              <a:rPr sz="1400" b="1">
                <a:solidFill>
                  <a:srgbClr val="FF6A00"/>
                </a:solidFill>
                <a:latin typeface="Calibri"/>
              </a:rPr>
              <a:t>CI &amp; Branding</a:t>
            </a:r>
          </a:p>
        </p:txBody>
      </p:sp>
      <p:sp>
        <p:nvSpPr>
          <p:cNvPr id="33" name="TextBox 32"/>
          <p:cNvSpPr txBox="1"/>
          <p:nvPr/>
        </p:nvSpPr>
        <p:spPr>
          <a:xfrm>
            <a:off x="9006840" y="278892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Würzburg-Rot</a:t>
            </a:r>
          </a:p>
        </p:txBody>
      </p:sp>
      <p:sp>
        <p:nvSpPr>
          <p:cNvPr id="34" name="TextBox 33"/>
          <p:cNvSpPr txBox="1"/>
          <p:nvPr/>
        </p:nvSpPr>
        <p:spPr>
          <a:xfrm>
            <a:off x="9006840" y="306324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#AD0E36 — Top-Akzentstreifen, Buttons</a:t>
            </a:r>
          </a:p>
        </p:txBody>
      </p:sp>
      <p:sp>
        <p:nvSpPr>
          <p:cNvPr id="35" name="TextBox 34"/>
          <p:cNvSpPr txBox="1"/>
          <p:nvPr/>
        </p:nvSpPr>
        <p:spPr>
          <a:xfrm>
            <a:off x="9006840" y="374904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Open Sans</a:t>
            </a:r>
          </a:p>
        </p:txBody>
      </p:sp>
      <p:sp>
        <p:nvSpPr>
          <p:cNvPr id="36" name="TextBox 35"/>
          <p:cNvSpPr txBox="1"/>
          <p:nvPr/>
        </p:nvSpPr>
        <p:spPr>
          <a:xfrm>
            <a:off x="9006840" y="402336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wie auf wuerzburg.de (selfhosted via regiogate)</a:t>
            </a:r>
          </a:p>
        </p:txBody>
      </p:sp>
      <p:sp>
        <p:nvSpPr>
          <p:cNvPr id="37" name="TextBox 36"/>
          <p:cNvSpPr txBox="1"/>
          <p:nvPr/>
        </p:nvSpPr>
        <p:spPr>
          <a:xfrm>
            <a:off x="9006840" y="470916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Stadtwappen</a:t>
            </a:r>
          </a:p>
        </p:txBody>
      </p:sp>
      <p:sp>
        <p:nvSpPr>
          <p:cNvPr id="38" name="TextBox 37"/>
          <p:cNvSpPr txBox="1"/>
          <p:nvPr/>
        </p:nvSpPr>
        <p:spPr>
          <a:xfrm>
            <a:off x="9006840" y="498348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historisches gemeinfreies SVG (Wikimedia Commons)</a:t>
            </a:r>
          </a:p>
        </p:txBody>
      </p:sp>
      <p:sp>
        <p:nvSpPr>
          <p:cNvPr id="39" name="TextBox 38"/>
          <p:cNvSpPr txBox="1"/>
          <p:nvPr/>
        </p:nvSpPr>
        <p:spPr>
          <a:xfrm>
            <a:off x="9006840" y="5669280"/>
            <a:ext cx="3474720" cy="274320"/>
          </a:xfrm>
          <a:prstGeom prst="rect">
            <a:avLst/>
          </a:prstGeom>
          <a:noFill/>
        </p:spPr>
        <p:txBody>
          <a:bodyPr wrap="square" lIns="0" rIns="0" tIns="0" bIns="0" anchor="t">
            <a:spAutoFit/>
          </a:bodyPr>
          <a:lstStyle/>
          <a:p>
            <a:pPr algn="l">
              <a:lnSpc>
                <a:spcPct val="115000"/>
              </a:lnSpc>
            </a:pPr>
            <a:r>
              <a:rPr sz="1100" b="1">
                <a:solidFill>
                  <a:srgbClr val="003E6E"/>
                </a:solidFill>
                <a:latin typeface="Calibri"/>
              </a:rPr>
              <a:t>Disclaimer</a:t>
            </a:r>
          </a:p>
        </p:txBody>
      </p:sp>
      <p:sp>
        <p:nvSpPr>
          <p:cNvPr id="40" name="TextBox 39"/>
          <p:cNvSpPr txBox="1"/>
          <p:nvPr/>
        </p:nvSpPr>
        <p:spPr>
          <a:xfrm>
            <a:off x="9006840" y="5943600"/>
            <a:ext cx="3474720" cy="640080"/>
          </a:xfrm>
          <a:prstGeom prst="rect">
            <a:avLst/>
          </a:prstGeom>
          <a:noFill/>
        </p:spPr>
        <p:txBody>
          <a:bodyPr wrap="square" lIns="0" rIns="0" tIns="0" bIns="0" anchor="t">
            <a:spAutoFit/>
          </a:bodyPr>
          <a:lstStyle/>
          <a:p>
            <a:pPr algn="l">
              <a:lnSpc>
                <a:spcPct val="130000"/>
              </a:lnSpc>
            </a:pPr>
            <a:r>
              <a:rPr sz="1050" b="0">
                <a:solidFill>
                  <a:srgbClr val="404040"/>
                </a:solidFill>
                <a:latin typeface="Calibri"/>
              </a:rPr>
              <a:t>Lehrdemo, kein offizielles Angebot der Stadt Würzburg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Vorher / Nachher — was sich für Bürgerinnen, Bürger und Sachbearbeitung konkret ändert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Darstellung; Konzeptpapier UE1, /ue1/webformular/02-vorteile-voraussetzungen.md.</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WIRKUNGSANALYSE  ·  VERGLEICHSTABELLE</a:t>
            </a:r>
          </a:p>
        </p:txBody>
      </p:sp>
      <p:sp>
        <p:nvSpPr>
          <p:cNvPr id="8" name="Rectangle 7"/>
          <p:cNvSpPr/>
          <p:nvPr/>
        </p:nvSpPr>
        <p:spPr>
          <a:xfrm>
            <a:off x="2560320" y="1920240"/>
            <a:ext cx="5120640" cy="50292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80" y="2011680"/>
            <a:ext cx="4937760" cy="320040"/>
          </a:xfrm>
          <a:prstGeom prst="rect">
            <a:avLst/>
          </a:prstGeom>
          <a:noFill/>
        </p:spPr>
        <p:txBody>
          <a:bodyPr wrap="square" lIns="0" rIns="0" tIns="0" bIns="0" anchor="t">
            <a:spAutoFit/>
          </a:bodyPr>
          <a:lstStyle/>
          <a:p>
            <a:pPr algn="l">
              <a:lnSpc>
                <a:spcPct val="115000"/>
              </a:lnSpc>
            </a:pPr>
            <a:r>
              <a:rPr sz="1200" b="1" spc="200">
                <a:solidFill>
                  <a:srgbClr val="FFFFFF"/>
                </a:solidFill>
                <a:latin typeface="Calibri"/>
              </a:rPr>
              <a:t>HEUTE  ·  PDF-VERFAHREN</a:t>
            </a:r>
          </a:p>
        </p:txBody>
      </p:sp>
      <p:sp>
        <p:nvSpPr>
          <p:cNvPr id="10" name="Rectangle 9"/>
          <p:cNvSpPr/>
          <p:nvPr/>
        </p:nvSpPr>
        <p:spPr>
          <a:xfrm>
            <a:off x="7680960" y="1920240"/>
            <a:ext cx="4937760" cy="50292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011680"/>
            <a:ext cx="4754880" cy="320040"/>
          </a:xfrm>
          <a:prstGeom prst="rect">
            <a:avLst/>
          </a:prstGeom>
          <a:noFill/>
        </p:spPr>
        <p:txBody>
          <a:bodyPr wrap="square" lIns="0" rIns="0" tIns="0" bIns="0" anchor="t">
            <a:spAutoFit/>
          </a:bodyPr>
          <a:lstStyle/>
          <a:p>
            <a:pPr algn="l">
              <a:lnSpc>
                <a:spcPct val="115000"/>
              </a:lnSpc>
            </a:pPr>
            <a:r>
              <a:rPr sz="1200" b="1" spc="200">
                <a:solidFill>
                  <a:srgbClr val="FFFFFF"/>
                </a:solidFill>
                <a:latin typeface="Calibri"/>
              </a:rPr>
              <a:t>MIT WEBFORMULAR UE1</a:t>
            </a:r>
          </a:p>
        </p:txBody>
      </p:sp>
      <p:sp>
        <p:nvSpPr>
          <p:cNvPr id="12" name="Rectangle 11"/>
          <p:cNvSpPr/>
          <p:nvPr/>
        </p:nvSpPr>
        <p:spPr>
          <a:xfrm>
            <a:off x="502920" y="2514600"/>
            <a:ext cx="12070080" cy="457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6334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Erfassungs­fehler</a:t>
            </a:r>
          </a:p>
        </p:txBody>
      </p:sp>
      <p:sp>
        <p:nvSpPr>
          <p:cNvPr id="14" name="TextBox 13"/>
          <p:cNvSpPr txBox="1"/>
          <p:nvPr/>
        </p:nvSpPr>
        <p:spPr>
          <a:xfrm>
            <a:off x="2697480" y="26334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hoch — Handschrift, Scan-Lesefehler</a:t>
            </a:r>
          </a:p>
        </p:txBody>
      </p:sp>
      <p:sp>
        <p:nvSpPr>
          <p:cNvPr id="15" name="TextBox 14"/>
          <p:cNvSpPr txBox="1"/>
          <p:nvPr/>
        </p:nvSpPr>
        <p:spPr>
          <a:xfrm>
            <a:off x="7818120" y="26334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niedrig — digitale Eingabe, sofortige Plausibilität</a:t>
            </a:r>
          </a:p>
        </p:txBody>
      </p:sp>
      <p:sp>
        <p:nvSpPr>
          <p:cNvPr id="16" name="Rectangle 15"/>
          <p:cNvSpPr/>
          <p:nvPr/>
        </p:nvSpPr>
        <p:spPr>
          <a:xfrm>
            <a:off x="502920" y="2971800"/>
            <a:ext cx="120700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906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Pflichtfeld vergessen</a:t>
            </a:r>
          </a:p>
        </p:txBody>
      </p:sp>
      <p:sp>
        <p:nvSpPr>
          <p:cNvPr id="18" name="TextBox 17"/>
          <p:cNvSpPr txBox="1"/>
          <p:nvPr/>
        </p:nvSpPr>
        <p:spPr>
          <a:xfrm>
            <a:off x="2697480" y="30906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fällt im Amt auf, postalische Rückfrage</a:t>
            </a:r>
          </a:p>
        </p:txBody>
      </p:sp>
      <p:sp>
        <p:nvSpPr>
          <p:cNvPr id="19" name="TextBox 18"/>
          <p:cNvSpPr txBox="1"/>
          <p:nvPr/>
        </p:nvSpPr>
        <p:spPr>
          <a:xfrm>
            <a:off x="7818120" y="30906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wird vor Submit markiert, kein versehentliches Abschicken</a:t>
            </a:r>
          </a:p>
        </p:txBody>
      </p:sp>
      <p:sp>
        <p:nvSpPr>
          <p:cNvPr id="20" name="Rectangle 19"/>
          <p:cNvSpPr/>
          <p:nvPr/>
        </p:nvSpPr>
        <p:spPr>
          <a:xfrm>
            <a:off x="502920" y="3429000"/>
            <a:ext cx="12070080" cy="457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478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IBAN-Fehler</a:t>
            </a:r>
          </a:p>
        </p:txBody>
      </p:sp>
      <p:sp>
        <p:nvSpPr>
          <p:cNvPr id="22" name="TextBox 21"/>
          <p:cNvSpPr txBox="1"/>
          <p:nvPr/>
        </p:nvSpPr>
        <p:spPr>
          <a:xfrm>
            <a:off x="2697480" y="35478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erst bei Banküberweisung sichtbar</a:t>
            </a:r>
          </a:p>
        </p:txBody>
      </p:sp>
      <p:sp>
        <p:nvSpPr>
          <p:cNvPr id="23" name="TextBox 22"/>
          <p:cNvSpPr txBox="1"/>
          <p:nvPr/>
        </p:nvSpPr>
        <p:spPr>
          <a:xfrm>
            <a:off x="7818120" y="35478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Mod-97-Check direkt im Browser</a:t>
            </a:r>
          </a:p>
        </p:txBody>
      </p:sp>
      <p:sp>
        <p:nvSpPr>
          <p:cNvPr id="24" name="Rectangle 23"/>
          <p:cNvSpPr/>
          <p:nvPr/>
        </p:nvSpPr>
        <p:spPr>
          <a:xfrm>
            <a:off x="502920" y="3886200"/>
            <a:ext cx="120700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0050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Anlagen vergessen</a:t>
            </a:r>
          </a:p>
        </p:txBody>
      </p:sp>
      <p:sp>
        <p:nvSpPr>
          <p:cNvPr id="26" name="TextBox 25"/>
          <p:cNvSpPr txBox="1"/>
          <p:nvPr/>
        </p:nvSpPr>
        <p:spPr>
          <a:xfrm>
            <a:off x="2697480" y="40050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typischer Rückläufer</a:t>
            </a:r>
          </a:p>
        </p:txBody>
      </p:sp>
      <p:sp>
        <p:nvSpPr>
          <p:cNvPr id="27" name="TextBox 26"/>
          <p:cNvSpPr txBox="1"/>
          <p:nvPr/>
        </p:nvSpPr>
        <p:spPr>
          <a:xfrm>
            <a:off x="7818120" y="40050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Pflicht-Anlagen blockieren Submit, MIME + Größe geprüft</a:t>
            </a:r>
          </a:p>
        </p:txBody>
      </p:sp>
      <p:sp>
        <p:nvSpPr>
          <p:cNvPr id="28" name="Rectangle 27"/>
          <p:cNvSpPr/>
          <p:nvPr/>
        </p:nvSpPr>
        <p:spPr>
          <a:xfrm>
            <a:off x="502920" y="4343400"/>
            <a:ext cx="12070080" cy="457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4622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Sprache</a:t>
            </a:r>
          </a:p>
        </p:txBody>
      </p:sp>
      <p:sp>
        <p:nvSpPr>
          <p:cNvPr id="30" name="TextBox 29"/>
          <p:cNvSpPr txBox="1"/>
          <p:nvPr/>
        </p:nvSpPr>
        <p:spPr>
          <a:xfrm>
            <a:off x="2697480" y="44622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nur Deutsch</a:t>
            </a:r>
          </a:p>
        </p:txBody>
      </p:sp>
      <p:sp>
        <p:nvSpPr>
          <p:cNvPr id="31" name="TextBox 30"/>
          <p:cNvSpPr txBox="1"/>
          <p:nvPr/>
        </p:nvSpPr>
        <p:spPr>
          <a:xfrm>
            <a:off x="7818120" y="44622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DE · IT · TR · ES, Auswahl persistiert pro Bürger:in</a:t>
            </a:r>
          </a:p>
        </p:txBody>
      </p:sp>
      <p:sp>
        <p:nvSpPr>
          <p:cNvPr id="32" name="Rectangle 31"/>
          <p:cNvSpPr/>
          <p:nvPr/>
        </p:nvSpPr>
        <p:spPr>
          <a:xfrm>
            <a:off x="502920" y="4800600"/>
            <a:ext cx="120700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9194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Barriere­freiheit</a:t>
            </a:r>
          </a:p>
        </p:txBody>
      </p:sp>
      <p:sp>
        <p:nvSpPr>
          <p:cNvPr id="34" name="TextBox 33"/>
          <p:cNvSpPr txBox="1"/>
          <p:nvPr/>
        </p:nvSpPr>
        <p:spPr>
          <a:xfrm>
            <a:off x="2697480" y="49194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Scan-PDFs oft nicht screenreadertauglich</a:t>
            </a:r>
          </a:p>
        </p:txBody>
      </p:sp>
      <p:sp>
        <p:nvSpPr>
          <p:cNvPr id="35" name="TextBox 34"/>
          <p:cNvSpPr txBox="1"/>
          <p:nvPr/>
        </p:nvSpPr>
        <p:spPr>
          <a:xfrm>
            <a:off x="7818120" y="49194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ARIA, Tastatur­bedienbarkeit, Fokus-States</a:t>
            </a:r>
          </a:p>
        </p:txBody>
      </p:sp>
      <p:sp>
        <p:nvSpPr>
          <p:cNvPr id="36" name="Rectangle 35"/>
          <p:cNvSpPr/>
          <p:nvPr/>
        </p:nvSpPr>
        <p:spPr>
          <a:xfrm>
            <a:off x="502920" y="5257800"/>
            <a:ext cx="12070080" cy="457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3766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Wieder­erkennung</a:t>
            </a:r>
          </a:p>
        </p:txBody>
      </p:sp>
      <p:sp>
        <p:nvSpPr>
          <p:cNvPr id="38" name="TextBox 37"/>
          <p:cNvSpPr txBox="1"/>
          <p:nvPr/>
        </p:nvSpPr>
        <p:spPr>
          <a:xfrm>
            <a:off x="2697480" y="53766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PDF-Briefkopf</a:t>
            </a:r>
          </a:p>
        </p:txBody>
      </p:sp>
      <p:sp>
        <p:nvSpPr>
          <p:cNvPr id="39" name="TextBox 38"/>
          <p:cNvSpPr txBox="1"/>
          <p:nvPr/>
        </p:nvSpPr>
        <p:spPr>
          <a:xfrm>
            <a:off x="7818120" y="53766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Würzburg-CI, Wappen, Header analog wuerzburg.de</a:t>
            </a:r>
          </a:p>
        </p:txBody>
      </p:sp>
      <p:sp>
        <p:nvSpPr>
          <p:cNvPr id="40" name="Rectangle 39"/>
          <p:cNvSpPr/>
          <p:nvPr/>
        </p:nvSpPr>
        <p:spPr>
          <a:xfrm>
            <a:off x="502920" y="5715000"/>
            <a:ext cx="120700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8338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Eingang im Amt</a:t>
            </a:r>
          </a:p>
        </p:txBody>
      </p:sp>
      <p:sp>
        <p:nvSpPr>
          <p:cNvPr id="42" name="TextBox 41"/>
          <p:cNvSpPr txBox="1"/>
          <p:nvPr/>
        </p:nvSpPr>
        <p:spPr>
          <a:xfrm>
            <a:off x="2697480" y="58338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manuelle Übertragung in Fachverfahren</a:t>
            </a:r>
          </a:p>
        </p:txBody>
      </p:sp>
      <p:sp>
        <p:nvSpPr>
          <p:cNvPr id="43" name="TextBox 42"/>
          <p:cNvSpPr txBox="1"/>
          <p:nvPr/>
        </p:nvSpPr>
        <p:spPr>
          <a:xfrm>
            <a:off x="7818120" y="58338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Datensatz + Anlagen liegen strukturiert in apl2.antraege</a:t>
            </a:r>
          </a:p>
        </p:txBody>
      </p:sp>
      <p:sp>
        <p:nvSpPr>
          <p:cNvPr id="44" name="Rectangle 43"/>
          <p:cNvSpPr/>
          <p:nvPr/>
        </p:nvSpPr>
        <p:spPr>
          <a:xfrm>
            <a:off x="502920" y="6172200"/>
            <a:ext cx="12070080" cy="457200"/>
          </a:xfrm>
          <a:prstGeom prst="rect">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6291072"/>
            <a:ext cx="2011680" cy="274320"/>
          </a:xfrm>
          <a:prstGeom prst="rect">
            <a:avLst/>
          </a:prstGeom>
          <a:noFill/>
        </p:spPr>
        <p:txBody>
          <a:bodyPr wrap="square" lIns="0" rIns="0" tIns="0" bIns="0" anchor="t">
            <a:spAutoFit/>
          </a:bodyPr>
          <a:lstStyle/>
          <a:p>
            <a:pPr algn="l">
              <a:lnSpc>
                <a:spcPct val="115000"/>
              </a:lnSpc>
            </a:pPr>
            <a:r>
              <a:rPr sz="1050" b="1">
                <a:solidFill>
                  <a:srgbClr val="003E6E"/>
                </a:solidFill>
                <a:latin typeface="Calibri"/>
              </a:rPr>
              <a:t>Rück­meldung</a:t>
            </a:r>
          </a:p>
        </p:txBody>
      </p:sp>
      <p:sp>
        <p:nvSpPr>
          <p:cNvPr id="46" name="TextBox 45"/>
          <p:cNvSpPr txBox="1"/>
          <p:nvPr/>
        </p:nvSpPr>
        <p:spPr>
          <a:xfrm>
            <a:off x="2697480" y="6291072"/>
            <a:ext cx="493776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keine — Bürger:in wartet auf Brief</a:t>
            </a:r>
          </a:p>
        </p:txBody>
      </p:sp>
      <p:sp>
        <p:nvSpPr>
          <p:cNvPr id="47" name="TextBox 46"/>
          <p:cNvSpPr txBox="1"/>
          <p:nvPr/>
        </p:nvSpPr>
        <p:spPr>
          <a:xfrm>
            <a:off x="7818120" y="6291072"/>
            <a:ext cx="4754880" cy="365760"/>
          </a:xfrm>
          <a:prstGeom prst="rect">
            <a:avLst/>
          </a:prstGeom>
          <a:noFill/>
        </p:spPr>
        <p:txBody>
          <a:bodyPr wrap="square" lIns="0" rIns="0" tIns="0" bIns="0" anchor="t">
            <a:spAutoFit/>
          </a:bodyPr>
          <a:lstStyle/>
          <a:p>
            <a:pPr algn="l">
              <a:lnSpc>
                <a:spcPct val="125000"/>
              </a:lnSpc>
            </a:pPr>
            <a:r>
              <a:rPr sz="1050" b="0">
                <a:solidFill>
                  <a:srgbClr val="404040"/>
                </a:solidFill>
                <a:latin typeface="Calibri"/>
              </a:rPr>
              <a:t>Antragsnummer im Browser, Druckansicht für eigene Akte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Was Reifegradstufe 1 wirklich bewirkt — sechs Chancen, die nicht zur Modernisierungs-Folklore gehören</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Auswertung Beratungsstelle für Senioren; KGSt-Bericht 11/2024; Capgemini Public Sector 2025; OZG-Roadmap 2025–2028.</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WIRKUNG  ·  CHANCEN DES NEUEN ANSATZES</a:t>
            </a:r>
          </a:p>
        </p:txBody>
      </p:sp>
      <p:sp>
        <p:nvSpPr>
          <p:cNvPr id="8" name="Rectangle 7"/>
          <p:cNvSpPr/>
          <p:nvPr/>
        </p:nvSpPr>
        <p:spPr>
          <a:xfrm>
            <a:off x="502920" y="201168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4028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DATENQUALITÄT AB FELD 1</a:t>
            </a:r>
          </a:p>
        </p:txBody>
      </p:sp>
      <p:sp>
        <p:nvSpPr>
          <p:cNvPr id="11" name="TextBox 10"/>
          <p:cNvSpPr txBox="1"/>
          <p:nvPr/>
        </p:nvSpPr>
        <p:spPr>
          <a:xfrm>
            <a:off x="777240" y="269748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Tippfehler, Zahlendreher, fehlende Belege werden im Browser abgefangen — die Sachbearbeitung beginnt mit sauberen Daten.</a:t>
            </a:r>
          </a:p>
        </p:txBody>
      </p:sp>
      <p:sp>
        <p:nvSpPr>
          <p:cNvPr id="12" name="Rectangle 11"/>
          <p:cNvSpPr/>
          <p:nvPr/>
        </p:nvSpPr>
        <p:spPr>
          <a:xfrm>
            <a:off x="4617720" y="201168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17720" y="201168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224028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WENIGER RÜCKLÄUFER</a:t>
            </a:r>
          </a:p>
        </p:txBody>
      </p:sp>
      <p:sp>
        <p:nvSpPr>
          <p:cNvPr id="15" name="TextBox 14"/>
          <p:cNvSpPr txBox="1"/>
          <p:nvPr/>
        </p:nvSpPr>
        <p:spPr>
          <a:xfrm>
            <a:off x="4892040" y="269748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Pflichtfelder, IBAN-Mod-97 und Anlagen-Vorprüfung machen die typischen Rückfrage-Schleifen weitgehend überflüssig.</a:t>
            </a:r>
          </a:p>
        </p:txBody>
      </p:sp>
      <p:sp>
        <p:nvSpPr>
          <p:cNvPr id="16" name="Rectangle 15"/>
          <p:cNvSpPr/>
          <p:nvPr/>
        </p:nvSpPr>
        <p:spPr>
          <a:xfrm>
            <a:off x="8732520" y="201168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732520" y="201168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224028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INKLUSION &amp; INTEGRATION</a:t>
            </a:r>
          </a:p>
        </p:txBody>
      </p:sp>
      <p:sp>
        <p:nvSpPr>
          <p:cNvPr id="19" name="TextBox 18"/>
          <p:cNvSpPr txBox="1"/>
          <p:nvPr/>
        </p:nvSpPr>
        <p:spPr>
          <a:xfrm>
            <a:off x="9006840" y="269748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Vier Sprachen senken die Hürde für Würzburger:innen ohne Deutsch als Muttersprache — Antragstellung wird zum Bürgerrecht, nicht zur Hürde.</a:t>
            </a:r>
          </a:p>
        </p:txBody>
      </p:sp>
      <p:sp>
        <p:nvSpPr>
          <p:cNvPr id="20" name="Rectangle 19"/>
          <p:cNvSpPr/>
          <p:nvPr/>
        </p:nvSpPr>
        <p:spPr>
          <a:xfrm>
            <a:off x="502920" y="416052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16052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38912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BARRIEREARMUT</a:t>
            </a:r>
          </a:p>
        </p:txBody>
      </p:sp>
      <p:sp>
        <p:nvSpPr>
          <p:cNvPr id="23" name="TextBox 22"/>
          <p:cNvSpPr txBox="1"/>
          <p:nvPr/>
        </p:nvSpPr>
        <p:spPr>
          <a:xfrm>
            <a:off x="777240" y="484632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HTML mit ARIA, semantische Labels und Fokus-States ermöglichen Tastatur- und Screenreader-Nutzung — wo Scan-PDFs scheitern.</a:t>
            </a:r>
          </a:p>
        </p:txBody>
      </p:sp>
      <p:sp>
        <p:nvSpPr>
          <p:cNvPr id="24" name="Rectangle 23"/>
          <p:cNvSpPr/>
          <p:nvPr/>
        </p:nvSpPr>
        <p:spPr>
          <a:xfrm>
            <a:off x="4617720" y="416052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17720" y="416052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438912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BAUSTEIN FÜR OZG 2.0</a:t>
            </a:r>
          </a:p>
        </p:txBody>
      </p:sp>
      <p:sp>
        <p:nvSpPr>
          <p:cNvPr id="27" name="TextBox 26"/>
          <p:cNvSpPr txBox="1"/>
          <p:nvPr/>
        </p:nvSpPr>
        <p:spPr>
          <a:xfrm>
            <a:off x="4892040" y="484632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Schema, Antragsnummer und Storage-Konzept sind die Grundlage, auf der UE2 (Status-Tracking) und UE5 (KI-Agent) aufsetzen.</a:t>
            </a:r>
          </a:p>
        </p:txBody>
      </p:sp>
      <p:sp>
        <p:nvSpPr>
          <p:cNvPr id="28" name="Rectangle 27"/>
          <p:cNvSpPr/>
          <p:nvPr/>
        </p:nvSpPr>
        <p:spPr>
          <a:xfrm>
            <a:off x="8732520" y="4160520"/>
            <a:ext cx="3931920" cy="1965960"/>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732520" y="4160520"/>
            <a:ext cx="73152" cy="1965960"/>
          </a:xfrm>
          <a:prstGeom prst="rect">
            <a:avLst/>
          </a:prstGeom>
          <a:solidFill>
            <a:srgbClr val="8AB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06840" y="4389120"/>
            <a:ext cx="3520439" cy="365760"/>
          </a:xfrm>
          <a:prstGeom prst="rect">
            <a:avLst/>
          </a:prstGeom>
          <a:noFill/>
        </p:spPr>
        <p:txBody>
          <a:bodyPr wrap="square" lIns="0" rIns="0" tIns="0" bIns="0" anchor="t">
            <a:spAutoFit/>
          </a:bodyPr>
          <a:lstStyle/>
          <a:p>
            <a:pPr algn="l">
              <a:lnSpc>
                <a:spcPct val="115000"/>
              </a:lnSpc>
            </a:pPr>
            <a:r>
              <a:rPr sz="1100" b="1" spc="200">
                <a:solidFill>
                  <a:srgbClr val="003E6E"/>
                </a:solidFill>
                <a:latin typeface="Calibri"/>
              </a:rPr>
              <a:t>MESSBARKEIT</a:t>
            </a:r>
          </a:p>
        </p:txBody>
      </p:sp>
      <p:sp>
        <p:nvSpPr>
          <p:cNvPr id="31" name="TextBox 30"/>
          <p:cNvSpPr txBox="1"/>
          <p:nvPr/>
        </p:nvSpPr>
        <p:spPr>
          <a:xfrm>
            <a:off x="9006840" y="4846320"/>
            <a:ext cx="3520439" cy="1143000"/>
          </a:xfrm>
          <a:prstGeom prst="rect">
            <a:avLst/>
          </a:prstGeom>
          <a:noFill/>
        </p:spPr>
        <p:txBody>
          <a:bodyPr wrap="square" lIns="0" rIns="0" tIns="0" bIns="0" anchor="t">
            <a:spAutoFit/>
          </a:bodyPr>
          <a:lstStyle/>
          <a:p>
            <a:pPr algn="l">
              <a:lnSpc>
                <a:spcPct val="132000"/>
              </a:lnSpc>
            </a:pPr>
            <a:r>
              <a:rPr sz="1100" b="0">
                <a:solidFill>
                  <a:srgbClr val="404040"/>
                </a:solidFill>
                <a:latin typeface="Calibri"/>
              </a:rPr>
              <a:t>Strukturierte Datensätze in apl2.antraege erlauben Auswertungen — Antragsvolumen, Bearbeitungszeit, häufige Fehlerquellen.</a:t>
            </a:r>
          </a:p>
        </p:txBody>
      </p:sp>
      <p:sp>
        <p:nvSpPr>
          <p:cNvPr id="32" name="Rectangle 31"/>
          <p:cNvSpPr/>
          <p:nvPr/>
        </p:nvSpPr>
        <p:spPr>
          <a:xfrm>
            <a:off x="502920" y="6309360"/>
            <a:ext cx="12070080" cy="50292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6400800"/>
            <a:ext cx="11475720" cy="365760"/>
          </a:xfrm>
          <a:prstGeom prst="rect">
            <a:avLst/>
          </a:prstGeom>
          <a:noFill/>
        </p:spPr>
        <p:txBody>
          <a:bodyPr wrap="square" lIns="0" rIns="0" tIns="0" bIns="0" anchor="t">
            <a:spAutoFit/>
          </a:bodyPr>
          <a:lstStyle/>
          <a:p>
            <a:pPr algn="l">
              <a:lnSpc>
                <a:spcPct val="115000"/>
              </a:lnSpc>
            </a:pPr>
            <a:r>
              <a:rPr sz="1100" b="0">
                <a:solidFill>
                  <a:srgbClr val="FFFFFF"/>
                </a:solidFill>
                <a:latin typeface="Calibri"/>
              </a:rPr>
              <a:t>Wirkungslogik: bessere Eingaben → weniger Rückfragen → schnellere Bescheide → freiere Sachbearbeitung für Beratung statt Datenpflege.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4632" y="274320"/>
            <a:ext cx="12134088" cy="246888"/>
          </a:xfrm>
          <a:prstGeom prst="rect">
            <a:avLst/>
          </a:prstGeom>
          <a:noFill/>
        </p:spPr>
        <p:txBody>
          <a:bodyPr wrap="square" lIns="0" rIns="0" tIns="0" bIns="0" anchor="t">
            <a:spAutoFit/>
          </a:bodyPr>
          <a:lstStyle/>
          <a:p>
            <a:pPr algn="l">
              <a:lnSpc>
                <a:spcPct val="115000"/>
              </a:lnSpc>
            </a:pPr>
            <a:r>
              <a:rPr sz="1100" b="0">
                <a:solidFill>
                  <a:srgbClr val="7A7A7A"/>
                </a:solidFill>
                <a:latin typeface="Calibri"/>
              </a:rPr>
              <a:t>Digitalisierung in der Verwaltung</a:t>
            </a:r>
          </a:p>
        </p:txBody>
      </p:sp>
      <p:sp>
        <p:nvSpPr>
          <p:cNvPr id="4" name="TextBox 3"/>
          <p:cNvSpPr txBox="1"/>
          <p:nvPr/>
        </p:nvSpPr>
        <p:spPr>
          <a:xfrm>
            <a:off x="484632" y="548640"/>
            <a:ext cx="12134088" cy="777240"/>
          </a:xfrm>
          <a:prstGeom prst="rect">
            <a:avLst/>
          </a:prstGeom>
          <a:noFill/>
        </p:spPr>
        <p:txBody>
          <a:bodyPr wrap="square" lIns="0" rIns="0" tIns="0" bIns="0" anchor="t">
            <a:spAutoFit/>
          </a:bodyPr>
          <a:lstStyle/>
          <a:p>
            <a:pPr algn="l">
              <a:lnSpc>
                <a:spcPct val="110000"/>
              </a:lnSpc>
            </a:pPr>
            <a:r>
              <a:rPr sz="2200" b="1">
                <a:solidFill>
                  <a:srgbClr val="003E6E"/>
                </a:solidFill>
                <a:latin typeface="Calibri"/>
              </a:rPr>
              <a:t>Was Stufe 1 nicht löst — und wo sie ehrlich an Grenzen stößt</a:t>
            </a:r>
          </a:p>
        </p:txBody>
      </p:sp>
      <p:cxnSp>
        <p:nvCxnSpPr>
          <p:cNvPr id="5" name="Connector 4"/>
          <p:cNvCxnSpPr/>
          <p:nvPr/>
        </p:nvCxnSpPr>
        <p:spPr>
          <a:xfrm>
            <a:off x="484632" y="1325880"/>
            <a:ext cx="12033504" cy="0"/>
          </a:xfrm>
          <a:prstGeom prst="line">
            <a:avLst/>
          </a:prstGeom>
          <a:ln w="9525">
            <a:solidFill>
              <a:srgbClr val="D6D6D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6903720"/>
            <a:ext cx="12134088" cy="274320"/>
          </a:xfrm>
          <a:prstGeom prst="rect">
            <a:avLst/>
          </a:prstGeom>
          <a:noFill/>
        </p:spPr>
        <p:txBody>
          <a:bodyPr wrap="square" lIns="0" rIns="0" tIns="0" bIns="0" anchor="t">
            <a:spAutoFit/>
          </a:bodyPr>
          <a:lstStyle/>
          <a:p>
            <a:pPr algn="l">
              <a:lnSpc>
                <a:spcPct val="115000"/>
              </a:lnSpc>
            </a:pPr>
            <a:r>
              <a:rPr sz="850" b="0">
                <a:solidFill>
                  <a:srgbClr val="7A7A7A"/>
                </a:solidFill>
                <a:latin typeface="Calibri"/>
              </a:rPr>
              <a:t>Eigene kritische Würdigung; OZG-Reifegradmodell IT-Planungsrat; BSI „KI- und Web-Sicherheit in der Verwaltung“ (2025); BayLfD-Handreichung Webformulare (2024).</a:t>
            </a:r>
          </a:p>
        </p:txBody>
      </p:sp>
      <p:sp>
        <p:nvSpPr>
          <p:cNvPr id="7" name="TextBox 6"/>
          <p:cNvSpPr txBox="1"/>
          <p:nvPr/>
        </p:nvSpPr>
        <p:spPr>
          <a:xfrm>
            <a:off x="502920" y="1508760"/>
            <a:ext cx="11887200" cy="274320"/>
          </a:xfrm>
          <a:prstGeom prst="rect">
            <a:avLst/>
          </a:prstGeom>
          <a:noFill/>
        </p:spPr>
        <p:txBody>
          <a:bodyPr wrap="square" lIns="0" rIns="0" tIns="0" bIns="0" anchor="t">
            <a:spAutoFit/>
          </a:bodyPr>
          <a:lstStyle/>
          <a:p>
            <a:pPr algn="l">
              <a:lnSpc>
                <a:spcPct val="115000"/>
              </a:lnSpc>
            </a:pPr>
            <a:r>
              <a:rPr sz="1000" b="1" spc="200">
                <a:solidFill>
                  <a:srgbClr val="FF6A00"/>
                </a:solidFill>
                <a:latin typeface="Calibri"/>
              </a:rPr>
              <a:t>KRITISCHE WÜRDIGUNG  ·  GRENZEN UND RISIKEN</a:t>
            </a:r>
          </a:p>
        </p:txBody>
      </p:sp>
      <p:sp>
        <p:nvSpPr>
          <p:cNvPr id="8" name="Rectangle 7"/>
          <p:cNvSpPr/>
          <p:nvPr/>
        </p:nvSpPr>
        <p:spPr>
          <a:xfrm>
            <a:off x="502920"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860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FACHLICHE PRÜFUNG FEHLT</a:t>
            </a:r>
          </a:p>
        </p:txBody>
      </p:sp>
      <p:sp>
        <p:nvSpPr>
          <p:cNvPr id="11" name="TextBox 10"/>
          <p:cNvSpPr txBox="1"/>
          <p:nvPr/>
        </p:nvSpPr>
        <p:spPr>
          <a:xfrm>
            <a:off x="731520" y="26974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Das Formular prüft Format, nicht Förderfähigkeit. Ob die Anlage 1 wirklich vollständig ist, entscheidet weiterhin der Mensch — und das ist UE3 bis UE5 vorbehalten.</a:t>
            </a:r>
          </a:p>
        </p:txBody>
      </p:sp>
      <p:sp>
        <p:nvSpPr>
          <p:cNvPr id="12" name="Rectangle 11"/>
          <p:cNvSpPr/>
          <p:nvPr/>
        </p:nvSpPr>
        <p:spPr>
          <a:xfrm>
            <a:off x="3602736"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02736"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31336" y="22860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STATUS-TRACKING FEHLT</a:t>
            </a:r>
          </a:p>
        </p:txBody>
      </p:sp>
      <p:sp>
        <p:nvSpPr>
          <p:cNvPr id="15" name="TextBox 14"/>
          <p:cNvSpPr txBox="1"/>
          <p:nvPr/>
        </p:nvSpPr>
        <p:spPr>
          <a:xfrm>
            <a:off x="3831336" y="26974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„Wo ist mein Antrag?“ kann das Formular noch nicht beantworten — Bürgerinnen bekommen eine Antragsnummer, aber keinen Stand. Das gehört in UE2.</a:t>
            </a:r>
          </a:p>
        </p:txBody>
      </p:sp>
      <p:sp>
        <p:nvSpPr>
          <p:cNvPr id="16" name="Rectangle 15"/>
          <p:cNvSpPr/>
          <p:nvPr/>
        </p:nvSpPr>
        <p:spPr>
          <a:xfrm>
            <a:off x="6702552"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02552"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31152" y="22860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SCHRIFTFORM &amp; SIGNATUR</a:t>
            </a:r>
          </a:p>
        </p:txBody>
      </p:sp>
      <p:sp>
        <p:nvSpPr>
          <p:cNvPr id="19" name="TextBox 18"/>
          <p:cNvSpPr txBox="1"/>
          <p:nvPr/>
        </p:nvSpPr>
        <p:spPr>
          <a:xfrm>
            <a:off x="6931152" y="26974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Wo Formvorschriften eine eigenhändige Unterschrift verlangen, reicht ein Webformular nicht; eIDAS-konforme Signatur ist Folgeschritt, nicht Bestandteil von Stufe 1.</a:t>
            </a:r>
          </a:p>
        </p:txBody>
      </p:sp>
      <p:sp>
        <p:nvSpPr>
          <p:cNvPr id="20" name="Rectangle 19"/>
          <p:cNvSpPr/>
          <p:nvPr/>
        </p:nvSpPr>
        <p:spPr>
          <a:xfrm>
            <a:off x="9802368" y="20116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02368" y="20116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30968" y="22860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PFLEGE-AUFWAND</a:t>
            </a:r>
          </a:p>
        </p:txBody>
      </p:sp>
      <p:sp>
        <p:nvSpPr>
          <p:cNvPr id="23" name="TextBox 22"/>
          <p:cNvSpPr txBox="1"/>
          <p:nvPr/>
        </p:nvSpPr>
        <p:spPr>
          <a:xfrm>
            <a:off x="10030968" y="26974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Jede Änderung an der Förderrichtlinie zieht Pflege im Frontend (Felder, Validierungen) UND in vier Sprachpaketen nach — Übersetzungsprozess muss organisiert sein.</a:t>
            </a:r>
          </a:p>
        </p:txBody>
      </p:sp>
      <p:sp>
        <p:nvSpPr>
          <p:cNvPr id="24" name="Rectangle 23"/>
          <p:cNvSpPr/>
          <p:nvPr/>
        </p:nvSpPr>
        <p:spPr>
          <a:xfrm>
            <a:off x="502920"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3434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DATENSPARSAMKEIT</a:t>
            </a:r>
          </a:p>
        </p:txBody>
      </p:sp>
      <p:sp>
        <p:nvSpPr>
          <p:cNvPr id="27" name="TextBox 26"/>
          <p:cNvSpPr txBox="1"/>
          <p:nvPr/>
        </p:nvSpPr>
        <p:spPr>
          <a:xfrm>
            <a:off x="731520" y="47548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Anlagen werden im Storage abgelegt — Löschfristen, Zugriffsprotokolle, Auskunfts­ansprüche der Betroffenen müssen für den Produktivbetrieb formal geregelt sein.</a:t>
            </a:r>
          </a:p>
        </p:txBody>
      </p:sp>
      <p:sp>
        <p:nvSpPr>
          <p:cNvPr id="28" name="Rectangle 27"/>
          <p:cNvSpPr/>
          <p:nvPr/>
        </p:nvSpPr>
        <p:spPr>
          <a:xfrm>
            <a:off x="3602736"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02736"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31336" y="43434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ABHÄNGIGKEITEN</a:t>
            </a:r>
          </a:p>
        </p:txBody>
      </p:sp>
      <p:sp>
        <p:nvSpPr>
          <p:cNvPr id="31" name="TextBox 30"/>
          <p:cNvSpPr txBox="1"/>
          <p:nvPr/>
        </p:nvSpPr>
        <p:spPr>
          <a:xfrm>
            <a:off x="3831336" y="47548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Supabase als verwalteter Stack ist pragmatisch — Souveränitäts-Fragen (Hosting, Auftrags­verarbeitung, Exit-Strategie) müssen vor Echteinsatz beantwortet sein.</a:t>
            </a:r>
          </a:p>
        </p:txBody>
      </p:sp>
      <p:sp>
        <p:nvSpPr>
          <p:cNvPr id="32" name="Rectangle 31"/>
          <p:cNvSpPr/>
          <p:nvPr/>
        </p:nvSpPr>
        <p:spPr>
          <a:xfrm>
            <a:off x="6702552"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31152" y="43434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DEMO-ÜBERSETZUNGEN</a:t>
            </a:r>
          </a:p>
        </p:txBody>
      </p:sp>
      <p:sp>
        <p:nvSpPr>
          <p:cNvPr id="35" name="TextBox 34"/>
          <p:cNvSpPr txBox="1"/>
          <p:nvPr/>
        </p:nvSpPr>
        <p:spPr>
          <a:xfrm>
            <a:off x="6931152" y="47548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IT/TR/ES sind Demo-Qualität — für amtliche Texte braucht es Fachübersetzung; der deutsche Wortlaut bleibt rechtlich verbindlich.</a:t>
            </a:r>
          </a:p>
        </p:txBody>
      </p:sp>
      <p:sp>
        <p:nvSpPr>
          <p:cNvPr id="36" name="Rectangle 35"/>
          <p:cNvSpPr/>
          <p:nvPr/>
        </p:nvSpPr>
        <p:spPr>
          <a:xfrm>
            <a:off x="9802368" y="4069080"/>
            <a:ext cx="2935224" cy="1874519"/>
          </a:xfrm>
          <a:prstGeom prst="rect">
            <a:avLst/>
          </a:prstGeom>
          <a:solidFill>
            <a:srgbClr val="FFFFFF"/>
          </a:solidFill>
          <a:ln w="635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02368" y="4069080"/>
            <a:ext cx="2935224" cy="91440"/>
          </a:xfrm>
          <a:prstGeom prst="rect">
            <a:avLst/>
          </a:prstGeom>
          <a:solidFill>
            <a:srgbClr val="BE23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0968" y="4343400"/>
            <a:ext cx="2569464" cy="36576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AKZEPTANZ IN DER VERWALTUNG</a:t>
            </a:r>
          </a:p>
        </p:txBody>
      </p:sp>
      <p:sp>
        <p:nvSpPr>
          <p:cNvPr id="39" name="TextBox 38"/>
          <p:cNvSpPr txBox="1"/>
          <p:nvPr/>
        </p:nvSpPr>
        <p:spPr>
          <a:xfrm>
            <a:off x="10030968" y="4754880"/>
            <a:ext cx="2569464" cy="1051560"/>
          </a:xfrm>
          <a:prstGeom prst="rect">
            <a:avLst/>
          </a:prstGeom>
          <a:noFill/>
        </p:spPr>
        <p:txBody>
          <a:bodyPr wrap="square" lIns="0" rIns="0" tIns="0" bIns="0" anchor="t">
            <a:spAutoFit/>
          </a:bodyPr>
          <a:lstStyle/>
          <a:p>
            <a:pPr algn="l">
              <a:lnSpc>
                <a:spcPct val="132000"/>
              </a:lnSpc>
            </a:pPr>
            <a:r>
              <a:rPr sz="1000" b="0">
                <a:solidFill>
                  <a:srgbClr val="404040"/>
                </a:solidFill>
                <a:latin typeface="Calibri"/>
              </a:rPr>
              <a:t>Solange das Amt am PDF-Output festhält, bleibt das Webformular ein „Hilfsmittel“ — der wahre Nutzen entsteht erst, wenn der gesamte Eingangskanal umgestellt wird.</a:t>
            </a:r>
          </a:p>
        </p:txBody>
      </p:sp>
      <p:sp>
        <p:nvSpPr>
          <p:cNvPr id="40" name="Rectangle 39"/>
          <p:cNvSpPr/>
          <p:nvPr/>
        </p:nvSpPr>
        <p:spPr>
          <a:xfrm>
            <a:off x="502920" y="6080760"/>
            <a:ext cx="12070080" cy="73152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6199632"/>
            <a:ext cx="11475720" cy="274320"/>
          </a:xfrm>
          <a:prstGeom prst="rect">
            <a:avLst/>
          </a:prstGeom>
          <a:noFill/>
        </p:spPr>
        <p:txBody>
          <a:bodyPr wrap="square" lIns="0" rIns="0" tIns="0" bIns="0" anchor="t">
            <a:spAutoFit/>
          </a:bodyPr>
          <a:lstStyle/>
          <a:p>
            <a:pPr algn="l">
              <a:lnSpc>
                <a:spcPct val="115000"/>
              </a:lnSpc>
            </a:pPr>
            <a:r>
              <a:rPr sz="1000" b="1" spc="200">
                <a:solidFill>
                  <a:srgbClr val="BE2344"/>
                </a:solidFill>
                <a:latin typeface="Calibri"/>
              </a:rPr>
              <a:t>KRITISCHE LESART</a:t>
            </a:r>
          </a:p>
        </p:txBody>
      </p:sp>
      <p:sp>
        <p:nvSpPr>
          <p:cNvPr id="42" name="TextBox 41"/>
          <p:cNvSpPr txBox="1"/>
          <p:nvPr/>
        </p:nvSpPr>
        <p:spPr>
          <a:xfrm>
            <a:off x="777240" y="6473952"/>
            <a:ext cx="11475720" cy="320040"/>
          </a:xfrm>
          <a:prstGeom prst="rect">
            <a:avLst/>
          </a:prstGeom>
          <a:noFill/>
        </p:spPr>
        <p:txBody>
          <a:bodyPr wrap="square" lIns="0" rIns="0" tIns="0" bIns="0" anchor="t">
            <a:spAutoFit/>
          </a:bodyPr>
          <a:lstStyle/>
          <a:p>
            <a:pPr algn="l">
              <a:lnSpc>
                <a:spcPct val="115000"/>
              </a:lnSpc>
            </a:pPr>
            <a:r>
              <a:rPr sz="1150" b="0">
                <a:solidFill>
                  <a:srgbClr val="404040"/>
                </a:solidFill>
                <a:latin typeface="Calibri"/>
              </a:rPr>
              <a:t>Reifegradstufe 1 ist ein Quick Win — keine Lösung. Sie schafft die Datenstruktur, auf der die nächsten Stufen aufsetzen, ersetzt aber weder die OZG-Anbindung noch die fachliche Bearbeitung.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3004596" cy="73152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004596" cy="54864"/>
          </a:xfrm>
          <a:prstGeom prst="rect">
            <a:avLst/>
          </a:prstGeom>
          <a:solidFill>
            <a:srgbClr val="AD0E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2134088" cy="274320"/>
          </a:xfrm>
          <a:prstGeom prst="rect">
            <a:avLst/>
          </a:prstGeom>
          <a:noFill/>
        </p:spPr>
        <p:txBody>
          <a:bodyPr wrap="square" lIns="0" rIns="0" tIns="0" bIns="0" anchor="t">
            <a:spAutoFit/>
          </a:bodyPr>
          <a:lstStyle/>
          <a:p>
            <a:pPr algn="l">
              <a:lnSpc>
                <a:spcPct val="115000"/>
              </a:lnSpc>
            </a:pPr>
            <a:r>
              <a:rPr sz="1100" b="0" spc="200">
                <a:solidFill>
                  <a:srgbClr val="FFB414"/>
                </a:solidFill>
                <a:latin typeface="Calibri"/>
              </a:rPr>
              <a:t>Digitalisierung in der Verwaltung  ·  UE1</a:t>
            </a:r>
          </a:p>
        </p:txBody>
      </p:sp>
      <p:sp>
        <p:nvSpPr>
          <p:cNvPr id="5" name="TextBox 4"/>
          <p:cNvSpPr txBox="1"/>
          <p:nvPr/>
        </p:nvSpPr>
        <p:spPr>
          <a:xfrm>
            <a:off x="502920" y="548640"/>
            <a:ext cx="12134088" cy="457200"/>
          </a:xfrm>
          <a:prstGeom prst="rect">
            <a:avLst/>
          </a:prstGeom>
          <a:noFill/>
        </p:spPr>
        <p:txBody>
          <a:bodyPr wrap="square" lIns="0" rIns="0" tIns="0" bIns="0" anchor="t">
            <a:spAutoFit/>
          </a:bodyPr>
          <a:lstStyle/>
          <a:p>
            <a:pPr algn="l">
              <a:lnSpc>
                <a:spcPct val="115000"/>
              </a:lnSpc>
            </a:pPr>
            <a:r>
              <a:rPr sz="2400" b="1">
                <a:solidFill>
                  <a:srgbClr val="FFFFFF"/>
                </a:solidFill>
                <a:latin typeface="Calibri"/>
              </a:rPr>
              <a:t>Take-aways  ·  und die Brücke zur nächsten Stufe</a:t>
            </a:r>
          </a:p>
        </p:txBody>
      </p:sp>
      <p:cxnSp>
        <p:nvCxnSpPr>
          <p:cNvPr id="6" name="Connector 5"/>
          <p:cNvCxnSpPr/>
          <p:nvPr/>
        </p:nvCxnSpPr>
        <p:spPr>
          <a:xfrm>
            <a:off x="502920" y="1188720"/>
            <a:ext cx="12015216" cy="0"/>
          </a:xfrm>
          <a:prstGeom prst="line">
            <a:avLst/>
          </a:prstGeom>
          <a:ln w="19050">
            <a:solidFill>
              <a:srgbClr val="FF6A0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02920" y="1645920"/>
            <a:ext cx="3931920" cy="3474720"/>
          </a:xfrm>
          <a:prstGeom prst="rect">
            <a:avLst/>
          </a:prstGeom>
          <a:solidFill>
            <a:srgbClr val="0A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45920"/>
            <a:ext cx="73152" cy="347472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3474720" cy="502920"/>
          </a:xfrm>
          <a:prstGeom prst="rect">
            <a:avLst/>
          </a:prstGeom>
          <a:noFill/>
        </p:spPr>
        <p:txBody>
          <a:bodyPr wrap="square" lIns="0" rIns="0" tIns="0" bIns="0" anchor="t">
            <a:spAutoFit/>
          </a:bodyPr>
          <a:lstStyle/>
          <a:p>
            <a:pPr algn="l">
              <a:lnSpc>
                <a:spcPct val="115000"/>
              </a:lnSpc>
            </a:pPr>
            <a:r>
              <a:rPr sz="3000" b="1">
                <a:solidFill>
                  <a:srgbClr val="FFB414"/>
                </a:solidFill>
                <a:latin typeface="Calibri"/>
              </a:rPr>
              <a:t>01</a:t>
            </a:r>
          </a:p>
        </p:txBody>
      </p:sp>
      <p:sp>
        <p:nvSpPr>
          <p:cNvPr id="10" name="TextBox 9"/>
          <p:cNvSpPr txBox="1"/>
          <p:nvPr/>
        </p:nvSpPr>
        <p:spPr>
          <a:xfrm>
            <a:off x="777240" y="2514600"/>
            <a:ext cx="3474720" cy="365760"/>
          </a:xfrm>
          <a:prstGeom prst="rect">
            <a:avLst/>
          </a:prstGeom>
          <a:noFill/>
        </p:spPr>
        <p:txBody>
          <a:bodyPr wrap="square" lIns="0" rIns="0" tIns="0" bIns="0" anchor="t">
            <a:spAutoFit/>
          </a:bodyPr>
          <a:lstStyle/>
          <a:p>
            <a:pPr algn="l">
              <a:lnSpc>
                <a:spcPct val="115000"/>
              </a:lnSpc>
            </a:pPr>
            <a:r>
              <a:rPr sz="1200" b="1" spc="200">
                <a:solidFill>
                  <a:srgbClr val="FFFFFF"/>
                </a:solidFill>
                <a:latin typeface="Calibri"/>
              </a:rPr>
              <a:t>EHRLICH BLEIBEN</a:t>
            </a:r>
          </a:p>
        </p:txBody>
      </p:sp>
      <p:sp>
        <p:nvSpPr>
          <p:cNvPr id="11" name="TextBox 10"/>
          <p:cNvSpPr txBox="1"/>
          <p:nvPr/>
        </p:nvSpPr>
        <p:spPr>
          <a:xfrm>
            <a:off x="777240" y="2971800"/>
            <a:ext cx="3474720" cy="2011679"/>
          </a:xfrm>
          <a:prstGeom prst="rect">
            <a:avLst/>
          </a:prstGeom>
          <a:noFill/>
        </p:spPr>
        <p:txBody>
          <a:bodyPr wrap="square" lIns="0" rIns="0" tIns="0" bIns="0" anchor="t">
            <a:spAutoFit/>
          </a:bodyPr>
          <a:lstStyle/>
          <a:p>
            <a:pPr algn="l">
              <a:lnSpc>
                <a:spcPct val="140000"/>
              </a:lnSpc>
            </a:pPr>
            <a:r>
              <a:rPr sz="1200" b="0">
                <a:solidFill>
                  <a:srgbClr val="E3DED1"/>
                </a:solidFill>
                <a:latin typeface="Calibri"/>
              </a:rPr>
              <a:t>Das PDF-Verfahren hat reale Stärken — Niedrigschwelligkeit, rechtliche Etablierung, geringer IT-Aufwand. Die Schwächen liegen nicht im Format, sondern im fehlenden Rückkanal.</a:t>
            </a:r>
          </a:p>
        </p:txBody>
      </p:sp>
      <p:sp>
        <p:nvSpPr>
          <p:cNvPr id="12" name="Rectangle 11"/>
          <p:cNvSpPr/>
          <p:nvPr/>
        </p:nvSpPr>
        <p:spPr>
          <a:xfrm>
            <a:off x="4617720" y="1645920"/>
            <a:ext cx="3931920" cy="3474720"/>
          </a:xfrm>
          <a:prstGeom prst="rect">
            <a:avLst/>
          </a:prstGeom>
          <a:solidFill>
            <a:srgbClr val="0A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17720" y="1645920"/>
            <a:ext cx="73152" cy="347472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1920240"/>
            <a:ext cx="3474720" cy="502920"/>
          </a:xfrm>
          <a:prstGeom prst="rect">
            <a:avLst/>
          </a:prstGeom>
          <a:noFill/>
        </p:spPr>
        <p:txBody>
          <a:bodyPr wrap="square" lIns="0" rIns="0" tIns="0" bIns="0" anchor="t">
            <a:spAutoFit/>
          </a:bodyPr>
          <a:lstStyle/>
          <a:p>
            <a:pPr algn="l">
              <a:lnSpc>
                <a:spcPct val="115000"/>
              </a:lnSpc>
            </a:pPr>
            <a:r>
              <a:rPr sz="3000" b="1">
                <a:solidFill>
                  <a:srgbClr val="FFB414"/>
                </a:solidFill>
                <a:latin typeface="Calibri"/>
              </a:rPr>
              <a:t>02</a:t>
            </a:r>
          </a:p>
        </p:txBody>
      </p:sp>
      <p:sp>
        <p:nvSpPr>
          <p:cNvPr id="15" name="TextBox 14"/>
          <p:cNvSpPr txBox="1"/>
          <p:nvPr/>
        </p:nvSpPr>
        <p:spPr>
          <a:xfrm>
            <a:off x="4892040" y="2514600"/>
            <a:ext cx="3474720" cy="365760"/>
          </a:xfrm>
          <a:prstGeom prst="rect">
            <a:avLst/>
          </a:prstGeom>
          <a:noFill/>
        </p:spPr>
        <p:txBody>
          <a:bodyPr wrap="square" lIns="0" rIns="0" tIns="0" bIns="0" anchor="t">
            <a:spAutoFit/>
          </a:bodyPr>
          <a:lstStyle/>
          <a:p>
            <a:pPr algn="l">
              <a:lnSpc>
                <a:spcPct val="115000"/>
              </a:lnSpc>
            </a:pPr>
            <a:r>
              <a:rPr sz="1200" b="1" spc="200">
                <a:solidFill>
                  <a:srgbClr val="FFFFFF"/>
                </a:solidFill>
                <a:latin typeface="Calibri"/>
              </a:rPr>
              <a:t>STUFE 1 LIEFERT JETZT</a:t>
            </a:r>
          </a:p>
        </p:txBody>
      </p:sp>
      <p:sp>
        <p:nvSpPr>
          <p:cNvPr id="16" name="TextBox 15"/>
          <p:cNvSpPr txBox="1"/>
          <p:nvPr/>
        </p:nvSpPr>
        <p:spPr>
          <a:xfrm>
            <a:off x="4892040" y="2971800"/>
            <a:ext cx="3474720" cy="2011679"/>
          </a:xfrm>
          <a:prstGeom prst="rect">
            <a:avLst/>
          </a:prstGeom>
          <a:noFill/>
        </p:spPr>
        <p:txBody>
          <a:bodyPr wrap="square" lIns="0" rIns="0" tIns="0" bIns="0" anchor="t">
            <a:spAutoFit/>
          </a:bodyPr>
          <a:lstStyle/>
          <a:p>
            <a:pPr algn="l">
              <a:lnSpc>
                <a:spcPct val="140000"/>
              </a:lnSpc>
            </a:pPr>
            <a:r>
              <a:rPr sz="1200" b="0">
                <a:solidFill>
                  <a:srgbClr val="E3DED1"/>
                </a:solidFill>
                <a:latin typeface="Calibri"/>
              </a:rPr>
              <a:t>Webformular + Validierung + Anlagen­prüfung + Mehrsprachigkeit sind ohne Großprojekt umsetzbar — und liefern sofort messbare Datenqualität.</a:t>
            </a:r>
          </a:p>
        </p:txBody>
      </p:sp>
      <p:sp>
        <p:nvSpPr>
          <p:cNvPr id="17" name="Rectangle 16"/>
          <p:cNvSpPr/>
          <p:nvPr/>
        </p:nvSpPr>
        <p:spPr>
          <a:xfrm>
            <a:off x="8732520" y="1645920"/>
            <a:ext cx="3931920" cy="3474720"/>
          </a:xfrm>
          <a:prstGeom prst="rect">
            <a:avLst/>
          </a:prstGeom>
          <a:solidFill>
            <a:srgbClr val="0A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32520" y="1645920"/>
            <a:ext cx="73152" cy="3474720"/>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920240"/>
            <a:ext cx="3474720" cy="502920"/>
          </a:xfrm>
          <a:prstGeom prst="rect">
            <a:avLst/>
          </a:prstGeom>
          <a:noFill/>
        </p:spPr>
        <p:txBody>
          <a:bodyPr wrap="square" lIns="0" rIns="0" tIns="0" bIns="0" anchor="t">
            <a:spAutoFit/>
          </a:bodyPr>
          <a:lstStyle/>
          <a:p>
            <a:pPr algn="l">
              <a:lnSpc>
                <a:spcPct val="115000"/>
              </a:lnSpc>
            </a:pPr>
            <a:r>
              <a:rPr sz="3000" b="1">
                <a:solidFill>
                  <a:srgbClr val="FFB414"/>
                </a:solidFill>
                <a:latin typeface="Calibri"/>
              </a:rPr>
              <a:t>03</a:t>
            </a:r>
          </a:p>
        </p:txBody>
      </p:sp>
      <p:sp>
        <p:nvSpPr>
          <p:cNvPr id="20" name="TextBox 19"/>
          <p:cNvSpPr txBox="1"/>
          <p:nvPr/>
        </p:nvSpPr>
        <p:spPr>
          <a:xfrm>
            <a:off x="9006840" y="2514600"/>
            <a:ext cx="3474720" cy="365760"/>
          </a:xfrm>
          <a:prstGeom prst="rect">
            <a:avLst/>
          </a:prstGeom>
          <a:noFill/>
        </p:spPr>
        <p:txBody>
          <a:bodyPr wrap="square" lIns="0" rIns="0" tIns="0" bIns="0" anchor="t">
            <a:spAutoFit/>
          </a:bodyPr>
          <a:lstStyle/>
          <a:p>
            <a:pPr algn="l">
              <a:lnSpc>
                <a:spcPct val="115000"/>
              </a:lnSpc>
            </a:pPr>
            <a:r>
              <a:rPr sz="1200" b="1" spc="200">
                <a:solidFill>
                  <a:srgbClr val="FFFFFF"/>
                </a:solidFill>
                <a:latin typeface="Calibri"/>
              </a:rPr>
              <a:t>BRÜCKE ZU UE2</a:t>
            </a:r>
          </a:p>
        </p:txBody>
      </p:sp>
      <p:sp>
        <p:nvSpPr>
          <p:cNvPr id="21" name="TextBox 20"/>
          <p:cNvSpPr txBox="1"/>
          <p:nvPr/>
        </p:nvSpPr>
        <p:spPr>
          <a:xfrm>
            <a:off x="9006840" y="2971800"/>
            <a:ext cx="3474720" cy="2011679"/>
          </a:xfrm>
          <a:prstGeom prst="rect">
            <a:avLst/>
          </a:prstGeom>
          <a:noFill/>
        </p:spPr>
        <p:txBody>
          <a:bodyPr wrap="square" lIns="0" rIns="0" tIns="0" bIns="0" anchor="t">
            <a:spAutoFit/>
          </a:bodyPr>
          <a:lstStyle/>
          <a:p>
            <a:pPr algn="l">
              <a:lnSpc>
                <a:spcPct val="140000"/>
              </a:lnSpc>
            </a:pPr>
            <a:r>
              <a:rPr sz="1200" b="0">
                <a:solidFill>
                  <a:srgbClr val="E3DED1"/>
                </a:solidFill>
                <a:latin typeface="Calibri"/>
              </a:rPr>
              <a:t>Schema, Antragsnummer, Storage und Submit-Pfad sind so geschnitten, dass UE2 (Status-Tracking, Sachbearbeitungs-Ansicht) und UE3 (semantische Prüfung) direkt aufsetzen können.</a:t>
            </a:r>
          </a:p>
        </p:txBody>
      </p:sp>
      <p:sp>
        <p:nvSpPr>
          <p:cNvPr id="22" name="Rectangle 21"/>
          <p:cNvSpPr/>
          <p:nvPr/>
        </p:nvSpPr>
        <p:spPr>
          <a:xfrm>
            <a:off x="502920" y="5577840"/>
            <a:ext cx="12070080" cy="1005840"/>
          </a:xfrm>
          <a:prstGeom prst="rect">
            <a:avLst/>
          </a:prstGeom>
          <a:solidFill>
            <a:srgbClr val="0A55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687568"/>
            <a:ext cx="11475720" cy="320040"/>
          </a:xfrm>
          <a:prstGeom prst="rect">
            <a:avLst/>
          </a:prstGeom>
          <a:noFill/>
        </p:spPr>
        <p:txBody>
          <a:bodyPr wrap="square" lIns="0" rIns="0" tIns="0" bIns="0" anchor="t">
            <a:spAutoFit/>
          </a:bodyPr>
          <a:lstStyle/>
          <a:p>
            <a:pPr algn="l">
              <a:lnSpc>
                <a:spcPct val="115000"/>
              </a:lnSpc>
            </a:pPr>
            <a:r>
              <a:rPr sz="1100" b="1" spc="300">
                <a:solidFill>
                  <a:srgbClr val="FFB414"/>
                </a:solidFill>
                <a:latin typeface="Calibri"/>
              </a:rPr>
              <a:t>AUSBLICK  ·  UE2 — DER MEDIENBRUCHFREIE EINGANG IM AMT</a:t>
            </a:r>
          </a:p>
        </p:txBody>
      </p:sp>
      <p:sp>
        <p:nvSpPr>
          <p:cNvPr id="24" name="TextBox 23"/>
          <p:cNvSpPr txBox="1"/>
          <p:nvPr/>
        </p:nvSpPr>
        <p:spPr>
          <a:xfrm>
            <a:off x="777240" y="6035040"/>
            <a:ext cx="11475720" cy="502920"/>
          </a:xfrm>
          <a:prstGeom prst="rect">
            <a:avLst/>
          </a:prstGeom>
          <a:noFill/>
        </p:spPr>
        <p:txBody>
          <a:bodyPr wrap="square" lIns="0" rIns="0" tIns="0" bIns="0" anchor="t">
            <a:spAutoFit/>
          </a:bodyPr>
          <a:lstStyle/>
          <a:p>
            <a:pPr algn="l">
              <a:lnSpc>
                <a:spcPct val="135000"/>
              </a:lnSpc>
            </a:pPr>
            <a:r>
              <a:rPr sz="1100" b="0">
                <a:solidFill>
                  <a:srgbClr val="FFFFFF"/>
                </a:solidFill>
                <a:latin typeface="Calibri"/>
              </a:rPr>
              <a:t>UE2 nimmt die in apl2.antraege landenden Datensätze auf, baut Sachbearbeitungs-Sichten, Statusmodelle und (im Sinne von OZG 2.0) Eingangsbestätigung und Tracking — ohne den hier gelegten Datenkern müsste sie diese Schritte sonst doppelt machen.</a:t>
            </a:r>
          </a:p>
        </p:txBody>
      </p:sp>
      <p:sp>
        <p:nvSpPr>
          <p:cNvPr id="25" name="TextBox 24"/>
          <p:cNvSpPr txBox="1"/>
          <p:nvPr/>
        </p:nvSpPr>
        <p:spPr>
          <a:xfrm>
            <a:off x="502920" y="6903720"/>
            <a:ext cx="12134088" cy="228600"/>
          </a:xfrm>
          <a:prstGeom prst="rect">
            <a:avLst/>
          </a:prstGeom>
          <a:noFill/>
        </p:spPr>
        <p:txBody>
          <a:bodyPr wrap="square" lIns="0" rIns="0" tIns="0" bIns="0" anchor="t">
            <a:spAutoFit/>
          </a:bodyPr>
          <a:lstStyle/>
          <a:p>
            <a:pPr algn="l">
              <a:lnSpc>
                <a:spcPct val="115000"/>
              </a:lnSpc>
            </a:pPr>
            <a:r>
              <a:rPr sz="850" b="0">
                <a:solidFill>
                  <a:srgbClr val="E3DED1"/>
                </a:solidFill>
                <a:latin typeface="Calibri"/>
              </a:rPr>
              <a:t>Demo-Repo: github.com/swrobuts/DigitalisierungVerwaltung  ·  Live-Demo: swrobuts.github.io/DigitalisierungVerwaltung/ue1/webformular/  ·  Lehrdemo — kein offizielles Angebot der Stadt Würzburg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